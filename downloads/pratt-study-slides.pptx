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establishing the case quickly: Spencer Pratt's 2026 LA mayoral campaign is the example. The paper is about the configuration around him, not the candidate. Take 60 seconds here; do not over-introduce.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hook. Open with the Batman ad — describe the Gotham framing, Bass-as-Joker, Newsom eating cake, citizens throwing tomatoes. Land on the punch: the campaign did not make it, did not pay for it, did not approve it. This slide should take 90–120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talk. State the research problem explicitly, then preview the three contributions. Keep it to 90 seconds. Do not get into Chadwick yet — that's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30-second slide. Walk the audience through the six steps, signal where you'll spend most of the time (steps 3 and 4). Mention the hedge on virality-to-votes early — it'll buy you credibility.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Establish Chadwick as the master frame. Note Bennett &amp; Segerberg and the recent AI-in-elections literature briefly. Then make the modest theoretical move: add a production layer. The contribution is small, but it's the move that unlocks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The point is to establish credibility — this isn't a celebrity stunt to analyze. He's at 22% in a real poll, has out-raised the incumbent in cycle, won a debate. The configuration matters because the campaign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minutes. Walk through all four. Emphasize: two of the four most-talked-about ads were not made by the campaign. The Fresh Prince and They Not Like Us are campaign-produced; the Batman and Saca La Bassura are not. This is the empirical foundation for the typology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This is the core analytic move of the paper. Walk through the table row by row, then make the two analytic notes: tiers leak, tiers are interdependent. The typology is analytic, not phenomenological — it's a clarification, not a fence around the 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Make the resource-asymmetry argument and then immediately make the qualifier. The qualifier is what protects you from over-claiming. Emphasize: partial offset, not complete substitution.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The most original visual in the deck. The Curran/Alvarez contrast is the cleanest illustration of the failure mode. Read out the italic line at the bottom — it's the one-liner you want the audience to remember from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seconds. Frame this as the toughest of the three implications. Be honest that the field doesn't yet have the conceptual tools — that's part of the contribution, naming the gap. Emphasize amplification-as-authorship as a research-agenda phrase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Walk through 1, 2, and 4 in detail (the meatiest ones). 3, 5, and 6 can be one-sentence each. Land on the practitioner takeaway: campaigns that treat Tier II as exogenous noise will be out-produced; campaigns that treat it as paid-media substitute will be out-priced; campaigns that treat it as a curatorial problem will be best positioned.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Close on the three open questions. These are the research-agenda items you want the room thinking about. Invite Q&amp;A. The persuasion-vs-consolidation question (Q1) almost always produces the best back-and-forth — be ready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40"/>
        </a:solidFill>
      </p:bgPr>
    </p:bg>
    <p:spTree>
      <p:nvGrpSpPr>
        <p:cNvPr id="1" name=""/>
        <p:cNvGrpSpPr/>
        <p:nvPr/>
      </p:nvGrpSpPr>
      <p:grpSpPr>
        <a:xfrm>
          <a:off x="0" y="0"/>
          <a:ext cx="0" cy="0"/>
          <a:chOff x="0" y="0"/>
          <a:chExt cx="0" cy="0"/>
        </a:xfrm>
      </p:grpSpPr>
      <p:sp>
        <p:nvSpPr>
          <p:cNvPr id="2" name="Shape 0"/>
          <p:cNvSpPr/>
          <p:nvPr/>
        </p:nvSpPr>
        <p:spPr>
          <a:xfrm>
            <a:off x="0" y="0"/>
            <a:ext cx="320040" cy="5143500"/>
          </a:xfrm>
          <a:prstGeom prst="rect">
            <a:avLst/>
          </a:prstGeom>
          <a:solidFill>
            <a:srgbClr val="E07A5F"/>
          </a:solidFill>
          <a:ln w="12700">
            <a:solidFill>
              <a:srgbClr val="E07A5F"/>
            </a:solidFill>
            <a:prstDash val="solid"/>
          </a:ln>
        </p:spPr>
      </p:sp>
      <p:sp>
        <p:nvSpPr>
          <p:cNvPr id="3" name="Text 1"/>
          <p:cNvSpPr/>
          <p:nvPr/>
        </p:nvSpPr>
        <p:spPr>
          <a:xfrm>
            <a:off x="822960" y="1280160"/>
            <a:ext cx="7772400" cy="82296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Supporter as Studio</a:t>
            </a:r>
            <a:endParaRPr lang="en-US" sz="4000" dirty="0"/>
          </a:p>
        </p:txBody>
      </p:sp>
      <p:sp>
        <p:nvSpPr>
          <p:cNvPr id="4" name="Text 2"/>
          <p:cNvSpPr/>
          <p:nvPr/>
        </p:nvSpPr>
        <p:spPr>
          <a:xfrm>
            <a:off x="822960" y="2148840"/>
            <a:ext cx="7772400" cy="914400"/>
          </a:xfrm>
          <a:prstGeom prst="rect">
            <a:avLst/>
          </a:prstGeom>
          <a:noFill/>
          <a:ln/>
        </p:spPr>
        <p:txBody>
          <a:bodyPr wrap="square" lIns="0" tIns="0" rIns="0" bIns="0" rtlCol="0" anchor="ctr"/>
          <a:lstStyle/>
          <a:p>
            <a:pPr indent="0" marL="0">
              <a:buNone/>
            </a:pPr>
            <a:r>
              <a:rPr lang="en-US" sz="1800" i="1" dirty="0">
                <a:solidFill>
                  <a:srgbClr val="E8F1F8"/>
                </a:solidFill>
                <a:latin typeface="Georgia" pitchFamily="34" charset="0"/>
                <a:ea typeface="Georgia" pitchFamily="34" charset="-122"/>
                <a:cs typeface="Georgia" pitchFamily="34" charset="-120"/>
              </a:rPr>
              <a:t>Generative AI, decentralized production, and the hybrid media system in the 2026 Los Angeles mayoral race</a:t>
            </a:r>
            <a:endParaRPr lang="en-US" sz="1800" dirty="0"/>
          </a:p>
        </p:txBody>
      </p:sp>
      <p:sp>
        <p:nvSpPr>
          <p:cNvPr id="5" name="Shape 3"/>
          <p:cNvSpPr/>
          <p:nvPr/>
        </p:nvSpPr>
        <p:spPr>
          <a:xfrm>
            <a:off x="822960" y="3291840"/>
            <a:ext cx="1645920" cy="0"/>
          </a:xfrm>
          <a:prstGeom prst="line">
            <a:avLst/>
          </a:prstGeom>
          <a:noFill/>
          <a:ln w="25400">
            <a:solidFill>
              <a:srgbClr val="1C7293"/>
            </a:solidFill>
            <a:prstDash val="solid"/>
          </a:ln>
        </p:spPr>
      </p:sp>
      <p:sp>
        <p:nvSpPr>
          <p:cNvPr id="6" name="Text 4"/>
          <p:cNvSpPr/>
          <p:nvPr/>
        </p:nvSpPr>
        <p:spPr>
          <a:xfrm>
            <a:off x="822960" y="3429000"/>
            <a:ext cx="77724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Lance Rossi</a:t>
            </a:r>
            <a:endParaRPr lang="en-US" sz="1400" dirty="0"/>
          </a:p>
        </p:txBody>
      </p:sp>
      <p:sp>
        <p:nvSpPr>
          <p:cNvPr id="7" name="Text 5"/>
          <p:cNvSpPr/>
          <p:nvPr/>
        </p:nvSpPr>
        <p:spPr>
          <a:xfrm>
            <a:off x="822960" y="3794760"/>
            <a:ext cx="7772400" cy="365760"/>
          </a:xfrm>
          <a:prstGeom prst="rect">
            <a:avLst/>
          </a:prstGeom>
          <a:noFill/>
          <a:ln/>
        </p:spPr>
        <p:txBody>
          <a:bodyPr wrap="square" lIns="0" tIns="0" rIns="0" bIns="0" rtlCol="0" anchor="ctr"/>
          <a:lstStyle/>
          <a:p>
            <a:pPr indent="0" marL="0">
              <a:buNone/>
            </a:pPr>
            <a:r>
              <a:rPr lang="en-US" sz="1200" dirty="0">
                <a:solidFill>
                  <a:srgbClr val="E8F1F8"/>
                </a:solidFill>
                <a:latin typeface="Calibri" pitchFamily="34" charset="0"/>
                <a:ea typeface="Calibri" pitchFamily="34" charset="-122"/>
                <a:cs typeface="Calibri" pitchFamily="34" charset="-120"/>
              </a:rPr>
              <a:t>NCA 112th Annual Convention · Political Communication Division · New Orleans, November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731520" y="1097280"/>
            <a:ext cx="7680960" cy="914400"/>
          </a:xfrm>
          <a:prstGeom prst="rect">
            <a:avLst/>
          </a:prstGeom>
          <a:noFill/>
          <a:ln/>
        </p:spPr>
        <p:txBody>
          <a:bodyPr wrap="square" lIns="0" tIns="0" rIns="0" bIns="0" rtlCol="0" anchor="ctr"/>
          <a:lstStyle/>
          <a:p>
            <a:pPr indent="0" marL="0">
              <a:buNone/>
            </a:pPr>
            <a:r>
              <a:rPr lang="en-US" sz="5600" b="1" dirty="0">
                <a:solidFill>
                  <a:srgbClr val="FFFFFF"/>
                </a:solidFill>
                <a:latin typeface="Georgia" pitchFamily="34" charset="0"/>
                <a:ea typeface="Georgia" pitchFamily="34" charset="-122"/>
                <a:cs typeface="Georgia" pitchFamily="34" charset="-120"/>
              </a:rPr>
              <a:t>3.9 million views.</a:t>
            </a:r>
            <a:endParaRPr lang="en-US" sz="5600" dirty="0"/>
          </a:p>
        </p:txBody>
      </p:sp>
      <p:sp>
        <p:nvSpPr>
          <p:cNvPr id="3" name="Text 1"/>
          <p:cNvSpPr/>
          <p:nvPr/>
        </p:nvSpPr>
        <p:spPr>
          <a:xfrm>
            <a:off x="731520" y="1965960"/>
            <a:ext cx="7680960" cy="548640"/>
          </a:xfrm>
          <a:prstGeom prst="rect">
            <a:avLst/>
          </a:prstGeom>
          <a:noFill/>
          <a:ln/>
        </p:spPr>
        <p:txBody>
          <a:bodyPr wrap="square" lIns="0" tIns="0" rIns="0" bIns="0" rtlCol="0" anchor="ctr"/>
          <a:lstStyle/>
          <a:p>
            <a:pPr indent="0" marL="0">
              <a:buNone/>
            </a:pPr>
            <a:r>
              <a:rPr lang="en-US" sz="2800" i="1" dirty="0">
                <a:solidFill>
                  <a:srgbClr val="E8F1F8"/>
                </a:solidFill>
                <a:latin typeface="Georgia" pitchFamily="34" charset="0"/>
                <a:ea typeface="Georgia" pitchFamily="34" charset="-122"/>
                <a:cs typeface="Georgia" pitchFamily="34" charset="-120"/>
              </a:rPr>
              <a:t>In about 24 hours.</a:t>
            </a:r>
            <a:endParaRPr lang="en-US" sz="2800" dirty="0"/>
          </a:p>
        </p:txBody>
      </p:sp>
      <p:sp>
        <p:nvSpPr>
          <p:cNvPr id="4" name="Shape 2"/>
          <p:cNvSpPr/>
          <p:nvPr/>
        </p:nvSpPr>
        <p:spPr>
          <a:xfrm>
            <a:off x="731520" y="2697480"/>
            <a:ext cx="1371600" cy="0"/>
          </a:xfrm>
          <a:prstGeom prst="line">
            <a:avLst/>
          </a:prstGeom>
          <a:noFill/>
          <a:ln w="25400">
            <a:solidFill>
              <a:srgbClr val="E07A5F"/>
            </a:solidFill>
            <a:prstDash val="solid"/>
          </a:ln>
        </p:spPr>
      </p:sp>
      <p:sp>
        <p:nvSpPr>
          <p:cNvPr id="5" name="Text 3"/>
          <p:cNvSpPr/>
          <p:nvPr/>
        </p:nvSpPr>
        <p:spPr>
          <a:xfrm>
            <a:off x="731520" y="2880360"/>
            <a:ext cx="7680960" cy="640080"/>
          </a:xfrm>
          <a:prstGeom prst="rect">
            <a:avLst/>
          </a:prstGeom>
          <a:noFill/>
          <a:ln/>
        </p:spPr>
        <p:txBody>
          <a:bodyPr wrap="square" lIns="0" tIns="0" rIns="0" bIns="0" rtlCol="0" anchor="ctr"/>
          <a:lstStyle/>
          <a:p>
            <a:pPr indent="0" marL="0">
              <a:buNone/>
            </a:pPr>
            <a:r>
              <a:rPr lang="en-US" sz="1800" dirty="0">
                <a:solidFill>
                  <a:srgbClr val="FFFFFF"/>
                </a:solidFill>
                <a:latin typeface="Calibri" pitchFamily="34" charset="0"/>
                <a:ea typeface="Calibri" pitchFamily="34" charset="-122"/>
                <a:cs typeface="Calibri" pitchFamily="34" charset="-120"/>
              </a:rPr>
              <a:t>The most-watched political ad in the 2026 LA mayoral race </a:t>
            </a:r>
            <a:pPr indent="0" marL="0">
              <a:buNone/>
            </a:pPr>
            <a:r>
              <a:rPr lang="en-US" sz="1800" b="1" dirty="0">
                <a:solidFill>
                  <a:srgbClr val="FFFFFF"/>
                </a:solidFill>
                <a:latin typeface="Calibri" pitchFamily="34" charset="0"/>
                <a:ea typeface="Calibri" pitchFamily="34" charset="-122"/>
                <a:cs typeface="Calibri" pitchFamily="34" charset="-120"/>
              </a:rPr>
              <a:t>was not made by the campaign.</a:t>
            </a:r>
            <a:endParaRPr lang="en-US" sz="1800" dirty="0"/>
          </a:p>
        </p:txBody>
      </p:sp>
      <p:sp>
        <p:nvSpPr>
          <p:cNvPr id="6" name="Text 4"/>
          <p:cNvSpPr/>
          <p:nvPr/>
        </p:nvSpPr>
        <p:spPr>
          <a:xfrm>
            <a:off x="731520" y="3520440"/>
            <a:ext cx="7680960" cy="822960"/>
          </a:xfrm>
          <a:prstGeom prst="rect">
            <a:avLst/>
          </a:prstGeom>
          <a:noFill/>
          <a:ln/>
        </p:spPr>
        <p:txBody>
          <a:bodyPr wrap="square" lIns="0" tIns="0" rIns="0" bIns="0" rtlCol="0" anchor="ctr"/>
          <a:lstStyle/>
          <a:p>
            <a:pPr indent="0" marL="0">
              <a:buNone/>
            </a:pPr>
            <a:r>
              <a:rPr lang="en-US" sz="1400" i="1" dirty="0">
                <a:solidFill>
                  <a:srgbClr val="E8F1F8"/>
                </a:solidFill>
                <a:latin typeface="Calibri" pitchFamily="34" charset="0"/>
                <a:ea typeface="Calibri" pitchFamily="34" charset="-122"/>
                <a:cs typeface="Calibri" pitchFamily="34" charset="-120"/>
              </a:rPr>
              <a:t>It was made by one Los Angeles AI filmmaker — Charlie Curran, Menace Studios — on a weekend, for free, with no formal campaign relationship.</a:t>
            </a:r>
            <a:endParaRPr lang="en-US" sz="1400" dirty="0"/>
          </a:p>
        </p:txBody>
      </p:sp>
      <p:sp>
        <p:nvSpPr>
          <p:cNvPr id="7" name="Text 5"/>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8" name="Text 6"/>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2 / 13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1F8"/>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The research problem</a:t>
            </a:r>
            <a:endParaRPr lang="en-US" sz="3200" dirty="0"/>
          </a:p>
        </p:txBody>
      </p:sp>
      <p:sp>
        <p:nvSpPr>
          <p:cNvPr id="3" name="Shape 1"/>
          <p:cNvSpPr/>
          <p:nvPr/>
        </p:nvSpPr>
        <p:spPr>
          <a:xfrm>
            <a:off x="457200" y="1097280"/>
            <a:ext cx="1097280" cy="0"/>
          </a:xfrm>
          <a:prstGeom prst="line">
            <a:avLst/>
          </a:prstGeom>
          <a:noFill/>
          <a:ln w="25400">
            <a:solidFill>
              <a:srgbClr val="E07A5F"/>
            </a:solidFill>
            <a:prstDash val="solid"/>
          </a:ln>
        </p:spPr>
      </p:sp>
      <p:sp>
        <p:nvSpPr>
          <p:cNvPr id="4" name="Text 2"/>
          <p:cNvSpPr/>
          <p:nvPr/>
        </p:nvSpPr>
        <p:spPr>
          <a:xfrm>
            <a:off x="457200" y="1371600"/>
            <a:ext cx="8229600" cy="1371600"/>
          </a:xfrm>
          <a:prstGeom prst="rect">
            <a:avLst/>
          </a:prstGeom>
          <a:noFill/>
          <a:ln/>
        </p:spPr>
        <p:txBody>
          <a:bodyPr wrap="square" lIns="0" tIns="0" rIns="0" bIns="0" rtlCol="0" anchor="ctr"/>
          <a:lstStyle/>
          <a:p>
            <a:pPr indent="0" marL="0">
              <a:buNone/>
            </a:pPr>
            <a:r>
              <a:rPr lang="en-US" sz="1800" i="1" dirty="0">
                <a:solidFill>
                  <a:srgbClr val="1A2332"/>
                </a:solidFill>
                <a:latin typeface="Calibri" pitchFamily="34" charset="0"/>
                <a:ea typeface="Calibri" pitchFamily="34" charset="-122"/>
                <a:cs typeface="Calibri" pitchFamily="34" charset="-120"/>
              </a:rPr>
              <a:t>How should the field theorize the production-side change that generative AI introduces into the hybrid media system — and what does the Pratt case suggest about the durability, generalizability, and characteristic vulnerabilities of the configuration?</a:t>
            </a:r>
            <a:endParaRPr lang="en-US" sz="1800" dirty="0"/>
          </a:p>
        </p:txBody>
      </p:sp>
      <p:sp>
        <p:nvSpPr>
          <p:cNvPr id="5" name="Shape 3"/>
          <p:cNvSpPr/>
          <p:nvPr/>
        </p:nvSpPr>
        <p:spPr>
          <a:xfrm>
            <a:off x="457200" y="2971800"/>
            <a:ext cx="2651760" cy="1554480"/>
          </a:xfrm>
          <a:prstGeom prst="rect">
            <a:avLst/>
          </a:prstGeom>
          <a:solidFill>
            <a:srgbClr val="FFFFFF"/>
          </a:solidFill>
          <a:ln w="12700">
            <a:solidFill>
              <a:srgbClr val="1C7293"/>
            </a:solidFill>
            <a:prstDash val="solid"/>
          </a:ln>
        </p:spPr>
      </p:sp>
      <p:sp>
        <p:nvSpPr>
          <p:cNvPr id="6" name="Shape 4"/>
          <p:cNvSpPr/>
          <p:nvPr/>
        </p:nvSpPr>
        <p:spPr>
          <a:xfrm>
            <a:off x="457200" y="2971800"/>
            <a:ext cx="2651760" cy="73152"/>
          </a:xfrm>
          <a:prstGeom prst="rect">
            <a:avLst/>
          </a:prstGeom>
          <a:solidFill>
            <a:srgbClr val="1C7293"/>
          </a:solidFill>
          <a:ln w="12700">
            <a:solidFill>
              <a:srgbClr val="1C7293"/>
            </a:solidFill>
            <a:prstDash val="solid"/>
          </a:ln>
        </p:spPr>
      </p:sp>
      <p:sp>
        <p:nvSpPr>
          <p:cNvPr id="7" name="Text 5"/>
          <p:cNvSpPr/>
          <p:nvPr/>
        </p:nvSpPr>
        <p:spPr>
          <a:xfrm>
            <a:off x="640080" y="3154680"/>
            <a:ext cx="2286000" cy="365760"/>
          </a:xfrm>
          <a:prstGeom prst="rect">
            <a:avLst/>
          </a:prstGeom>
          <a:noFill/>
          <a:ln/>
        </p:spPr>
        <p:txBody>
          <a:bodyPr wrap="square" lIns="0" tIns="0" rIns="0" bIns="0" rtlCol="0" anchor="ctr"/>
          <a:lstStyle/>
          <a:p>
            <a:pPr indent="0" marL="0">
              <a:buNone/>
            </a:pPr>
            <a:r>
              <a:rPr lang="en-US" sz="1600" b="1" dirty="0">
                <a:solidFill>
                  <a:srgbClr val="0A2540"/>
                </a:solidFill>
                <a:latin typeface="Georgia" pitchFamily="34" charset="0"/>
                <a:ea typeface="Georgia" pitchFamily="34" charset="-122"/>
                <a:cs typeface="Georgia" pitchFamily="34" charset="-120"/>
              </a:rPr>
              <a:t>Typology</a:t>
            </a:r>
            <a:endParaRPr lang="en-US" sz="1600" dirty="0"/>
          </a:p>
        </p:txBody>
      </p:sp>
      <p:sp>
        <p:nvSpPr>
          <p:cNvPr id="8" name="Text 6"/>
          <p:cNvSpPr/>
          <p:nvPr/>
        </p:nvSpPr>
        <p:spPr>
          <a:xfrm>
            <a:off x="640080" y="3611880"/>
            <a:ext cx="2286000" cy="822960"/>
          </a:xfrm>
          <a:prstGeom prst="rect">
            <a:avLst/>
          </a:prstGeom>
          <a:noFill/>
          <a:ln/>
        </p:spPr>
        <p:txBody>
          <a:bodyPr wrap="square" lIns="0" tIns="0" rIns="0" bIns="0" rtlCol="0" anchor="ctr"/>
          <a:lstStyle/>
          <a:p>
            <a:pPr indent="0" marL="0">
              <a:buNone/>
            </a:pPr>
            <a:r>
              <a:rPr lang="en-US" sz="1200" dirty="0">
                <a:solidFill>
                  <a:srgbClr val="1A2332"/>
                </a:solidFill>
                <a:latin typeface="Calibri" pitchFamily="34" charset="0"/>
                <a:ea typeface="Calibri" pitchFamily="34" charset="-122"/>
                <a:cs typeface="Calibri" pitchFamily="34" charset="-120"/>
              </a:rPr>
              <a:t>A three-tier scheme that resists the campaign-vs-supporter binary.</a:t>
            </a:r>
            <a:endParaRPr lang="en-US" sz="1200" dirty="0"/>
          </a:p>
        </p:txBody>
      </p:sp>
      <p:sp>
        <p:nvSpPr>
          <p:cNvPr id="9" name="Shape 7"/>
          <p:cNvSpPr/>
          <p:nvPr/>
        </p:nvSpPr>
        <p:spPr>
          <a:xfrm>
            <a:off x="3246120" y="2971800"/>
            <a:ext cx="2651760" cy="1554480"/>
          </a:xfrm>
          <a:prstGeom prst="rect">
            <a:avLst/>
          </a:prstGeom>
          <a:solidFill>
            <a:srgbClr val="FFFFFF"/>
          </a:solidFill>
          <a:ln w="12700">
            <a:solidFill>
              <a:srgbClr val="1C7293"/>
            </a:solidFill>
            <a:prstDash val="solid"/>
          </a:ln>
        </p:spPr>
      </p:sp>
      <p:sp>
        <p:nvSpPr>
          <p:cNvPr id="10" name="Shape 8"/>
          <p:cNvSpPr/>
          <p:nvPr/>
        </p:nvSpPr>
        <p:spPr>
          <a:xfrm>
            <a:off x="3246120" y="2971800"/>
            <a:ext cx="2651760" cy="73152"/>
          </a:xfrm>
          <a:prstGeom prst="rect">
            <a:avLst/>
          </a:prstGeom>
          <a:solidFill>
            <a:srgbClr val="1C7293"/>
          </a:solidFill>
          <a:ln w="12700">
            <a:solidFill>
              <a:srgbClr val="1C7293"/>
            </a:solidFill>
            <a:prstDash val="solid"/>
          </a:ln>
        </p:spPr>
      </p:sp>
      <p:sp>
        <p:nvSpPr>
          <p:cNvPr id="11" name="Text 9"/>
          <p:cNvSpPr/>
          <p:nvPr/>
        </p:nvSpPr>
        <p:spPr>
          <a:xfrm>
            <a:off x="3429000" y="3154680"/>
            <a:ext cx="2286000" cy="365760"/>
          </a:xfrm>
          <a:prstGeom prst="rect">
            <a:avLst/>
          </a:prstGeom>
          <a:noFill/>
          <a:ln/>
        </p:spPr>
        <p:txBody>
          <a:bodyPr wrap="square" lIns="0" tIns="0" rIns="0" bIns="0" rtlCol="0" anchor="ctr"/>
          <a:lstStyle/>
          <a:p>
            <a:pPr indent="0" marL="0">
              <a:buNone/>
            </a:pPr>
            <a:r>
              <a:rPr lang="en-US" sz="1600" b="1" dirty="0">
                <a:solidFill>
                  <a:srgbClr val="0A2540"/>
                </a:solidFill>
                <a:latin typeface="Georgia" pitchFamily="34" charset="0"/>
                <a:ea typeface="Georgia" pitchFamily="34" charset="-122"/>
                <a:cs typeface="Georgia" pitchFamily="34" charset="-120"/>
              </a:rPr>
              <a:t>Theory</a:t>
            </a:r>
            <a:endParaRPr lang="en-US" sz="1600" dirty="0"/>
          </a:p>
        </p:txBody>
      </p:sp>
      <p:sp>
        <p:nvSpPr>
          <p:cNvPr id="12" name="Text 10"/>
          <p:cNvSpPr/>
          <p:nvPr/>
        </p:nvSpPr>
        <p:spPr>
          <a:xfrm>
            <a:off x="3429000" y="3611880"/>
            <a:ext cx="2286000" cy="822960"/>
          </a:xfrm>
          <a:prstGeom prst="rect">
            <a:avLst/>
          </a:prstGeom>
          <a:noFill/>
          <a:ln/>
        </p:spPr>
        <p:txBody>
          <a:bodyPr wrap="square" lIns="0" tIns="0" rIns="0" bIns="0" rtlCol="0" anchor="ctr"/>
          <a:lstStyle/>
          <a:p>
            <a:pPr indent="0" marL="0">
              <a:buNone/>
            </a:pPr>
            <a:r>
              <a:rPr lang="en-US" sz="1200" dirty="0">
                <a:solidFill>
                  <a:srgbClr val="1A2332"/>
                </a:solidFill>
                <a:latin typeface="Calibri" pitchFamily="34" charset="0"/>
                <a:ea typeface="Calibri" pitchFamily="34" charset="-122"/>
                <a:cs typeface="Calibri" pitchFamily="34" charset="-120"/>
              </a:rPr>
              <a:t>Extending Chadwick (2017) with an explicit production layer.</a:t>
            </a:r>
            <a:endParaRPr lang="en-US" sz="1200" dirty="0"/>
          </a:p>
        </p:txBody>
      </p:sp>
      <p:sp>
        <p:nvSpPr>
          <p:cNvPr id="13" name="Shape 11"/>
          <p:cNvSpPr/>
          <p:nvPr/>
        </p:nvSpPr>
        <p:spPr>
          <a:xfrm>
            <a:off x="6035040" y="2971800"/>
            <a:ext cx="2651760" cy="1554480"/>
          </a:xfrm>
          <a:prstGeom prst="rect">
            <a:avLst/>
          </a:prstGeom>
          <a:solidFill>
            <a:srgbClr val="FFFFFF"/>
          </a:solidFill>
          <a:ln w="12700">
            <a:solidFill>
              <a:srgbClr val="1C7293"/>
            </a:solidFill>
            <a:prstDash val="solid"/>
          </a:ln>
        </p:spPr>
      </p:sp>
      <p:sp>
        <p:nvSpPr>
          <p:cNvPr id="14" name="Shape 12"/>
          <p:cNvSpPr/>
          <p:nvPr/>
        </p:nvSpPr>
        <p:spPr>
          <a:xfrm>
            <a:off x="6035040" y="2971800"/>
            <a:ext cx="2651760" cy="73152"/>
          </a:xfrm>
          <a:prstGeom prst="rect">
            <a:avLst/>
          </a:prstGeom>
          <a:solidFill>
            <a:srgbClr val="1C7293"/>
          </a:solidFill>
          <a:ln w="12700">
            <a:solidFill>
              <a:srgbClr val="1C7293"/>
            </a:solidFill>
            <a:prstDash val="solid"/>
          </a:ln>
        </p:spPr>
      </p:sp>
      <p:sp>
        <p:nvSpPr>
          <p:cNvPr id="15" name="Text 13"/>
          <p:cNvSpPr/>
          <p:nvPr/>
        </p:nvSpPr>
        <p:spPr>
          <a:xfrm>
            <a:off x="6217920" y="3154680"/>
            <a:ext cx="2286000" cy="365760"/>
          </a:xfrm>
          <a:prstGeom prst="rect">
            <a:avLst/>
          </a:prstGeom>
          <a:noFill/>
          <a:ln/>
        </p:spPr>
        <p:txBody>
          <a:bodyPr wrap="square" lIns="0" tIns="0" rIns="0" bIns="0" rtlCol="0" anchor="ctr"/>
          <a:lstStyle/>
          <a:p>
            <a:pPr indent="0" marL="0">
              <a:buNone/>
            </a:pPr>
            <a:r>
              <a:rPr lang="en-US" sz="1600" b="1" dirty="0">
                <a:solidFill>
                  <a:srgbClr val="0A2540"/>
                </a:solidFill>
                <a:latin typeface="Georgia" pitchFamily="34" charset="0"/>
                <a:ea typeface="Georgia" pitchFamily="34" charset="-122"/>
                <a:cs typeface="Georgia" pitchFamily="34" charset="-120"/>
              </a:rPr>
              <a:t>Open questions</a:t>
            </a:r>
            <a:endParaRPr lang="en-US" sz="1600" dirty="0"/>
          </a:p>
        </p:txBody>
      </p:sp>
      <p:sp>
        <p:nvSpPr>
          <p:cNvPr id="16" name="Text 14"/>
          <p:cNvSpPr/>
          <p:nvPr/>
        </p:nvSpPr>
        <p:spPr>
          <a:xfrm>
            <a:off x="6217920" y="3611880"/>
            <a:ext cx="2286000" cy="822960"/>
          </a:xfrm>
          <a:prstGeom prst="rect">
            <a:avLst/>
          </a:prstGeom>
          <a:noFill/>
          <a:ln/>
        </p:spPr>
        <p:txBody>
          <a:bodyPr wrap="square" lIns="0" tIns="0" rIns="0" bIns="0" rtlCol="0" anchor="ctr"/>
          <a:lstStyle/>
          <a:p>
            <a:pPr indent="0" marL="0">
              <a:buNone/>
            </a:pPr>
            <a:r>
              <a:rPr lang="en-US" sz="1200" dirty="0">
                <a:solidFill>
                  <a:srgbClr val="1A2332"/>
                </a:solidFill>
                <a:latin typeface="Calibri" pitchFamily="34" charset="0"/>
                <a:ea typeface="Calibri" pitchFamily="34" charset="-122"/>
                <a:cs typeface="Calibri" pitchFamily="34" charset="-120"/>
              </a:rPr>
              <a:t>Three the field will need to answer over the 2026–2028 cycles.</a:t>
            </a:r>
            <a:endParaRPr lang="en-US" sz="1200" dirty="0"/>
          </a:p>
        </p:txBody>
      </p:sp>
      <p:sp>
        <p:nvSpPr>
          <p:cNvPr id="17" name="Text 15"/>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18" name="Text 16"/>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3 / 13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Roadmap</a:t>
            </a:r>
            <a:endParaRPr lang="en-US" sz="3200" dirty="0"/>
          </a:p>
        </p:txBody>
      </p:sp>
      <p:sp>
        <p:nvSpPr>
          <p:cNvPr id="3" name="Shape 1"/>
          <p:cNvSpPr/>
          <p:nvPr/>
        </p:nvSpPr>
        <p:spPr>
          <a:xfrm>
            <a:off x="457200" y="1097280"/>
            <a:ext cx="1097280" cy="0"/>
          </a:xfrm>
          <a:prstGeom prst="line">
            <a:avLst/>
          </a:prstGeom>
          <a:noFill/>
          <a:ln w="25400">
            <a:solidFill>
              <a:srgbClr val="E07A5F"/>
            </a:solidFill>
            <a:prstDash val="solid"/>
          </a:ln>
        </p:spPr>
      </p:sp>
      <p:sp>
        <p:nvSpPr>
          <p:cNvPr id="4" name="Shape 2"/>
          <p:cNvSpPr/>
          <p:nvPr/>
        </p:nvSpPr>
        <p:spPr>
          <a:xfrm>
            <a:off x="548640" y="1508760"/>
            <a:ext cx="320040" cy="320040"/>
          </a:xfrm>
          <a:prstGeom prst="ellipse">
            <a:avLst/>
          </a:prstGeom>
          <a:solidFill>
            <a:srgbClr val="1C7293"/>
          </a:solidFill>
          <a:ln w="12700">
            <a:solidFill>
              <a:srgbClr val="1C7293"/>
            </a:solidFill>
            <a:prstDash val="solid"/>
          </a:ln>
        </p:spPr>
      </p:sp>
      <p:sp>
        <p:nvSpPr>
          <p:cNvPr id="5" name="Text 3"/>
          <p:cNvSpPr/>
          <p:nvPr/>
        </p:nvSpPr>
        <p:spPr>
          <a:xfrm>
            <a:off x="548640" y="150876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051560" y="1463040"/>
            <a:ext cx="7589520" cy="411480"/>
          </a:xfrm>
          <a:prstGeom prst="rect">
            <a:avLst/>
          </a:prstGeom>
          <a:noFill/>
          <a:ln/>
        </p:spPr>
        <p:txBody>
          <a:bodyPr wrap="square" lIns="0" tIns="0" rIns="0" bIns="0" rtlCol="0" anchor="ctr"/>
          <a:lstStyle/>
          <a:p>
            <a:pPr indent="0" marL="0">
              <a:buNone/>
            </a:pPr>
            <a:r>
              <a:rPr lang="en-US" sz="1400" dirty="0">
                <a:solidFill>
                  <a:srgbClr val="1A2332"/>
                </a:solidFill>
                <a:latin typeface="Calibri" pitchFamily="34" charset="0"/>
                <a:ea typeface="Calibri" pitchFamily="34" charset="-122"/>
                <a:cs typeface="Calibri" pitchFamily="34" charset="-120"/>
              </a:rPr>
              <a:t>Theoretical framing — hybrid media system + production layer</a:t>
            </a:r>
            <a:endParaRPr lang="en-US" sz="1400" dirty="0"/>
          </a:p>
        </p:txBody>
      </p:sp>
      <p:sp>
        <p:nvSpPr>
          <p:cNvPr id="7" name="Shape 5"/>
          <p:cNvSpPr/>
          <p:nvPr/>
        </p:nvSpPr>
        <p:spPr>
          <a:xfrm>
            <a:off x="548640" y="1984248"/>
            <a:ext cx="320040" cy="320040"/>
          </a:xfrm>
          <a:prstGeom prst="ellipse">
            <a:avLst/>
          </a:prstGeom>
          <a:solidFill>
            <a:srgbClr val="1C7293"/>
          </a:solidFill>
          <a:ln w="12700">
            <a:solidFill>
              <a:srgbClr val="1C7293"/>
            </a:solidFill>
            <a:prstDash val="solid"/>
          </a:ln>
        </p:spPr>
      </p:sp>
      <p:sp>
        <p:nvSpPr>
          <p:cNvPr id="8" name="Text 6"/>
          <p:cNvSpPr/>
          <p:nvPr/>
        </p:nvSpPr>
        <p:spPr>
          <a:xfrm>
            <a:off x="548640" y="1984248"/>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1051560" y="1938528"/>
            <a:ext cx="7589520" cy="411480"/>
          </a:xfrm>
          <a:prstGeom prst="rect">
            <a:avLst/>
          </a:prstGeom>
          <a:noFill/>
          <a:ln/>
        </p:spPr>
        <p:txBody>
          <a:bodyPr wrap="square" lIns="0" tIns="0" rIns="0" bIns="0" rtlCol="0" anchor="ctr"/>
          <a:lstStyle/>
          <a:p>
            <a:pPr indent="0" marL="0">
              <a:buNone/>
            </a:pPr>
            <a:r>
              <a:rPr lang="en-US" sz="1400" dirty="0">
                <a:solidFill>
                  <a:srgbClr val="1A2332"/>
                </a:solidFill>
                <a:latin typeface="Calibri" pitchFamily="34" charset="0"/>
                <a:ea typeface="Calibri" pitchFamily="34" charset="-122"/>
                <a:cs typeface="Calibri" pitchFamily="34" charset="-120"/>
              </a:rPr>
              <a:t>The Pratt media ecosystem — campaign basics and four anchor artifacts</a:t>
            </a:r>
            <a:endParaRPr lang="en-US" sz="1400" dirty="0"/>
          </a:p>
        </p:txBody>
      </p:sp>
      <p:sp>
        <p:nvSpPr>
          <p:cNvPr id="10" name="Shape 8"/>
          <p:cNvSpPr/>
          <p:nvPr/>
        </p:nvSpPr>
        <p:spPr>
          <a:xfrm>
            <a:off x="548640" y="2459736"/>
            <a:ext cx="320040" cy="320040"/>
          </a:xfrm>
          <a:prstGeom prst="ellipse">
            <a:avLst/>
          </a:prstGeom>
          <a:solidFill>
            <a:srgbClr val="1C7293"/>
          </a:solidFill>
          <a:ln w="12700">
            <a:solidFill>
              <a:srgbClr val="1C7293"/>
            </a:solidFill>
            <a:prstDash val="solid"/>
          </a:ln>
        </p:spPr>
      </p:sp>
      <p:sp>
        <p:nvSpPr>
          <p:cNvPr id="11" name="Text 9"/>
          <p:cNvSpPr/>
          <p:nvPr/>
        </p:nvSpPr>
        <p:spPr>
          <a:xfrm>
            <a:off x="548640" y="2459736"/>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1051560" y="2414016"/>
            <a:ext cx="7589520" cy="411480"/>
          </a:xfrm>
          <a:prstGeom prst="rect">
            <a:avLst/>
          </a:prstGeom>
          <a:noFill/>
          <a:ln/>
        </p:spPr>
        <p:txBody>
          <a:bodyPr wrap="square" lIns="0" tIns="0" rIns="0" bIns="0" rtlCol="0" anchor="ctr"/>
          <a:lstStyle/>
          <a:p>
            <a:pPr indent="0" marL="0">
              <a:buNone/>
            </a:pPr>
            <a:r>
              <a:rPr lang="en-US" sz="1400" dirty="0">
                <a:solidFill>
                  <a:srgbClr val="1A2332"/>
                </a:solidFill>
                <a:latin typeface="Calibri" pitchFamily="34" charset="0"/>
                <a:ea typeface="Calibri" pitchFamily="34" charset="-122"/>
                <a:cs typeface="Calibri" pitchFamily="34" charset="-120"/>
              </a:rPr>
              <a:t>A three-tier typology — campaign / supporter-generated AI / amplification</a:t>
            </a:r>
            <a:endParaRPr lang="en-US" sz="1400" dirty="0"/>
          </a:p>
        </p:txBody>
      </p:sp>
      <p:sp>
        <p:nvSpPr>
          <p:cNvPr id="13" name="Shape 11"/>
          <p:cNvSpPr/>
          <p:nvPr/>
        </p:nvSpPr>
        <p:spPr>
          <a:xfrm>
            <a:off x="548640" y="2935224"/>
            <a:ext cx="320040" cy="320040"/>
          </a:xfrm>
          <a:prstGeom prst="ellipse">
            <a:avLst/>
          </a:prstGeom>
          <a:solidFill>
            <a:srgbClr val="1C7293"/>
          </a:solidFill>
          <a:ln w="12700">
            <a:solidFill>
              <a:srgbClr val="1C7293"/>
            </a:solidFill>
            <a:prstDash val="solid"/>
          </a:ln>
        </p:spPr>
      </p:sp>
      <p:sp>
        <p:nvSpPr>
          <p:cNvPr id="14" name="Text 12"/>
          <p:cNvSpPr/>
          <p:nvPr/>
        </p:nvSpPr>
        <p:spPr>
          <a:xfrm>
            <a:off x="548640" y="2935224"/>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1051560" y="2889504"/>
            <a:ext cx="7589520" cy="411480"/>
          </a:xfrm>
          <a:prstGeom prst="rect">
            <a:avLst/>
          </a:prstGeom>
          <a:noFill/>
          <a:ln/>
        </p:spPr>
        <p:txBody>
          <a:bodyPr wrap="square" lIns="0" tIns="0" rIns="0" bIns="0" rtlCol="0" anchor="ctr"/>
          <a:lstStyle/>
          <a:p>
            <a:pPr indent="0" marL="0">
              <a:buNone/>
            </a:pPr>
            <a:r>
              <a:rPr lang="en-US" sz="1400" dirty="0">
                <a:solidFill>
                  <a:srgbClr val="1A2332"/>
                </a:solidFill>
                <a:latin typeface="Calibri" pitchFamily="34" charset="0"/>
                <a:ea typeface="Calibri" pitchFamily="34" charset="-122"/>
                <a:cs typeface="Calibri" pitchFamily="34" charset="-120"/>
              </a:rPr>
              <a:t>Three implications — resource offset, cultural-fit failure, attribution</a:t>
            </a:r>
            <a:endParaRPr lang="en-US" sz="1400" dirty="0"/>
          </a:p>
        </p:txBody>
      </p:sp>
      <p:sp>
        <p:nvSpPr>
          <p:cNvPr id="16" name="Shape 14"/>
          <p:cNvSpPr/>
          <p:nvPr/>
        </p:nvSpPr>
        <p:spPr>
          <a:xfrm>
            <a:off x="548640" y="3410712"/>
            <a:ext cx="320040" cy="320040"/>
          </a:xfrm>
          <a:prstGeom prst="ellipse">
            <a:avLst/>
          </a:prstGeom>
          <a:solidFill>
            <a:srgbClr val="1C7293"/>
          </a:solidFill>
          <a:ln w="12700">
            <a:solidFill>
              <a:srgbClr val="1C7293"/>
            </a:solidFill>
            <a:prstDash val="solid"/>
          </a:ln>
        </p:spPr>
      </p:sp>
      <p:sp>
        <p:nvSpPr>
          <p:cNvPr id="17" name="Text 15"/>
          <p:cNvSpPr/>
          <p:nvPr/>
        </p:nvSpPr>
        <p:spPr>
          <a:xfrm>
            <a:off x="548640" y="3410712"/>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1051560" y="3364992"/>
            <a:ext cx="7589520" cy="411480"/>
          </a:xfrm>
          <a:prstGeom prst="rect">
            <a:avLst/>
          </a:prstGeom>
          <a:noFill/>
          <a:ln/>
        </p:spPr>
        <p:txBody>
          <a:bodyPr wrap="square" lIns="0" tIns="0" rIns="0" bIns="0" rtlCol="0" anchor="ctr"/>
          <a:lstStyle/>
          <a:p>
            <a:pPr indent="0" marL="0">
              <a:buNone/>
            </a:pPr>
            <a:r>
              <a:rPr lang="en-US" sz="1400" dirty="0">
                <a:solidFill>
                  <a:srgbClr val="1A2332"/>
                </a:solidFill>
                <a:latin typeface="Calibri" pitchFamily="34" charset="0"/>
                <a:ea typeface="Calibri" pitchFamily="34" charset="-122"/>
                <a:cs typeface="Calibri" pitchFamily="34" charset="-120"/>
              </a:rPr>
              <a:t>Forward to 2028 — six likely emergent patterns</a:t>
            </a:r>
            <a:endParaRPr lang="en-US" sz="1400" dirty="0"/>
          </a:p>
        </p:txBody>
      </p:sp>
      <p:sp>
        <p:nvSpPr>
          <p:cNvPr id="19" name="Shape 17"/>
          <p:cNvSpPr/>
          <p:nvPr/>
        </p:nvSpPr>
        <p:spPr>
          <a:xfrm>
            <a:off x="548640" y="3886200"/>
            <a:ext cx="320040" cy="320040"/>
          </a:xfrm>
          <a:prstGeom prst="ellipse">
            <a:avLst/>
          </a:prstGeom>
          <a:solidFill>
            <a:srgbClr val="1C7293"/>
          </a:solidFill>
          <a:ln w="12700">
            <a:solidFill>
              <a:srgbClr val="1C7293"/>
            </a:solidFill>
            <a:prstDash val="solid"/>
          </a:ln>
        </p:spPr>
      </p:sp>
      <p:sp>
        <p:nvSpPr>
          <p:cNvPr id="20" name="Text 18"/>
          <p:cNvSpPr/>
          <p:nvPr/>
        </p:nvSpPr>
        <p:spPr>
          <a:xfrm>
            <a:off x="548640" y="3886200"/>
            <a:ext cx="320040"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1" name="Text 19"/>
          <p:cNvSpPr/>
          <p:nvPr/>
        </p:nvSpPr>
        <p:spPr>
          <a:xfrm>
            <a:off x="1051560" y="3840480"/>
            <a:ext cx="7589520" cy="411480"/>
          </a:xfrm>
          <a:prstGeom prst="rect">
            <a:avLst/>
          </a:prstGeom>
          <a:noFill/>
          <a:ln/>
        </p:spPr>
        <p:txBody>
          <a:bodyPr wrap="square" lIns="0" tIns="0" rIns="0" bIns="0" rtlCol="0" anchor="ctr"/>
          <a:lstStyle/>
          <a:p>
            <a:pPr indent="0" marL="0">
              <a:buNone/>
            </a:pPr>
            <a:r>
              <a:rPr lang="en-US" sz="1400" dirty="0">
                <a:solidFill>
                  <a:srgbClr val="1A2332"/>
                </a:solidFill>
                <a:latin typeface="Calibri" pitchFamily="34" charset="0"/>
                <a:ea typeface="Calibri" pitchFamily="34" charset="-122"/>
                <a:cs typeface="Calibri" pitchFamily="34" charset="-120"/>
              </a:rPr>
              <a:t>Three open questions for the field</a:t>
            </a:r>
            <a:endParaRPr lang="en-US" sz="1400" dirty="0"/>
          </a:p>
        </p:txBody>
      </p:sp>
      <p:sp>
        <p:nvSpPr>
          <p:cNvPr id="22" name="Text 20"/>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23" name="Text 21"/>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4 / 13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1F8"/>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Theoretical framing</a:t>
            </a:r>
            <a:endParaRPr lang="en-US" sz="3200" dirty="0"/>
          </a:p>
        </p:txBody>
      </p:sp>
      <p:sp>
        <p:nvSpPr>
          <p:cNvPr id="3" name="Shape 1"/>
          <p:cNvSpPr/>
          <p:nvPr/>
        </p:nvSpPr>
        <p:spPr>
          <a:xfrm>
            <a:off x="457200" y="1097280"/>
            <a:ext cx="1097280" cy="0"/>
          </a:xfrm>
          <a:prstGeom prst="line">
            <a:avLst/>
          </a:prstGeom>
          <a:noFill/>
          <a:ln w="25400">
            <a:solidFill>
              <a:srgbClr val="E07A5F"/>
            </a:solidFill>
            <a:prstDash val="solid"/>
          </a:ln>
        </p:spPr>
      </p:sp>
      <p:sp>
        <p:nvSpPr>
          <p:cNvPr id="4" name="Text 2"/>
          <p:cNvSpPr/>
          <p:nvPr/>
        </p:nvSpPr>
        <p:spPr>
          <a:xfrm>
            <a:off x="457200" y="1325880"/>
            <a:ext cx="3931920" cy="365760"/>
          </a:xfrm>
          <a:prstGeom prst="rect">
            <a:avLst/>
          </a:prstGeom>
          <a:noFill/>
          <a:ln/>
        </p:spPr>
        <p:txBody>
          <a:bodyPr wrap="square" lIns="0" tIns="0" rIns="0" bIns="0" rtlCol="0" anchor="ctr"/>
          <a:lstStyle/>
          <a:p>
            <a:pPr indent="0" marL="0">
              <a:buNone/>
            </a:pPr>
            <a:r>
              <a:rPr lang="en-US" sz="1600" b="1" dirty="0">
                <a:solidFill>
                  <a:srgbClr val="1C7293"/>
                </a:solidFill>
                <a:latin typeface="Georgia" pitchFamily="34" charset="0"/>
                <a:ea typeface="Georgia" pitchFamily="34" charset="-122"/>
                <a:cs typeface="Georgia" pitchFamily="34" charset="-120"/>
              </a:rPr>
              <a:t>The literatures</a:t>
            </a:r>
            <a:endParaRPr lang="en-US" sz="1600" dirty="0"/>
          </a:p>
        </p:txBody>
      </p:sp>
      <p:sp>
        <p:nvSpPr>
          <p:cNvPr id="5" name="Text 3"/>
          <p:cNvSpPr/>
          <p:nvPr/>
        </p:nvSpPr>
        <p:spPr>
          <a:xfrm>
            <a:off x="457200" y="1737360"/>
            <a:ext cx="3931920" cy="2743200"/>
          </a:xfrm>
          <a:prstGeom prst="rect">
            <a:avLst/>
          </a:prstGeom>
          <a:noFill/>
          <a:ln/>
        </p:spPr>
        <p:txBody>
          <a:bodyPr wrap="square" rtlCol="0" anchor="ctr"/>
          <a:lstStyle/>
          <a:p>
            <a:pPr marL="342900" indent="-342900">
              <a:spcAft>
                <a:spcPts val="400"/>
              </a:spcAft>
              <a:buSzPct val="100000"/>
              <a:buChar char="•"/>
            </a:pPr>
            <a:r>
              <a:rPr lang="en-US" sz="1300" b="1" dirty="0">
                <a:solidFill>
                  <a:srgbClr val="1A2332"/>
                </a:solidFill>
                <a:latin typeface="Calibri" pitchFamily="34" charset="0"/>
                <a:ea typeface="Calibri" pitchFamily="34" charset="-122"/>
                <a:cs typeface="Calibri" pitchFamily="34" charset="-120"/>
              </a:rPr>
              <a:t>Hybrid media system (Chadwick, 2017)</a:t>
            </a:r>
            <a:endParaRPr lang="en-US" sz="1300" dirty="0"/>
          </a:p>
          <a:p>
            <a:pPr indent="0" marL="0">
              <a:spcAft>
                <a:spcPts val="400"/>
              </a:spcAft>
              <a:buNone/>
            </a:pPr>
            <a:r>
              <a:rPr lang="en-US" sz="1100" dirty="0">
                <a:solidFill>
                  <a:srgbClr val="5C7080"/>
                </a:solidFill>
                <a:latin typeface="Calibri" pitchFamily="34" charset="0"/>
                <a:ea typeface="Calibri" pitchFamily="34" charset="-122"/>
                <a:cs typeface="Calibri" pitchFamily="34" charset="-120"/>
              </a:rPr>
              <a:t>old and new logics interact and remediate; neither replaces the other.</a:t>
            </a:r>
            <a:endParaRPr lang="en-US" sz="1300" dirty="0"/>
          </a:p>
          <a:p>
            <a:pPr marL="342900" indent="-342900">
              <a:spcAft>
                <a:spcPts val="400"/>
              </a:spcAft>
              <a:buSzPct val="100000"/>
              <a:buChar char="•"/>
            </a:pPr>
            <a:r>
              <a:rPr lang="en-US" sz="1300" b="1" dirty="0">
                <a:solidFill>
                  <a:srgbClr val="1A2332"/>
                </a:solidFill>
                <a:latin typeface="Calibri" pitchFamily="34" charset="0"/>
                <a:ea typeface="Calibri" pitchFamily="34" charset="-122"/>
                <a:cs typeface="Calibri" pitchFamily="34" charset="-120"/>
              </a:rPr>
              <a:t>Connective action (Bennett &amp; Segerberg, 2013)</a:t>
            </a:r>
            <a:endParaRPr lang="en-US" sz="1300" dirty="0"/>
          </a:p>
          <a:p>
            <a:pPr indent="0" marL="0">
              <a:spcAft>
                <a:spcPts val="400"/>
              </a:spcAft>
              <a:buNone/>
            </a:pPr>
            <a:r>
              <a:rPr lang="en-US" sz="1100" dirty="0">
                <a:solidFill>
                  <a:srgbClr val="5C7080"/>
                </a:solidFill>
                <a:latin typeface="Calibri" pitchFamily="34" charset="0"/>
                <a:ea typeface="Calibri" pitchFamily="34" charset="-122"/>
                <a:cs typeface="Calibri" pitchFamily="34" charset="-120"/>
              </a:rPr>
              <a:t>identity-anchored personalized political expression at scale.</a:t>
            </a:r>
            <a:endParaRPr lang="en-US" sz="1300" dirty="0"/>
          </a:p>
          <a:p>
            <a:pPr marL="342900" indent="-342900">
              <a:spcAft>
                <a:spcPts val="400"/>
              </a:spcAft>
              <a:buSzPct val="100000"/>
              <a:buChar char="•"/>
            </a:pPr>
            <a:r>
              <a:rPr lang="en-US" sz="1300" b="1" dirty="0">
                <a:solidFill>
                  <a:srgbClr val="1A2332"/>
                </a:solidFill>
                <a:latin typeface="Calibri" pitchFamily="34" charset="0"/>
                <a:ea typeface="Calibri" pitchFamily="34" charset="-122"/>
                <a:cs typeface="Calibri" pitchFamily="34" charset="-120"/>
              </a:rPr>
              <a:t>AI in 2024 elections (CME 2024; Persily &amp; Tucker 2024)</a:t>
            </a:r>
            <a:endParaRPr lang="en-US" sz="1300" dirty="0"/>
          </a:p>
          <a:p>
            <a:pPr indent="0" marL="0">
              <a:spcAft>
                <a:spcPts val="400"/>
              </a:spcAft>
              <a:buNone/>
            </a:pPr>
            <a:r>
              <a:rPr lang="en-US" sz="1100" dirty="0">
                <a:solidFill>
                  <a:srgbClr val="5C7080"/>
                </a:solidFill>
                <a:latin typeface="Calibri" pitchFamily="34" charset="0"/>
                <a:ea typeface="Calibri" pitchFamily="34" charset="-122"/>
                <a:cs typeface="Calibri" pitchFamily="34" charset="-120"/>
              </a:rPr>
              <a:t>production-cost compression, not just deepfake disinformation.</a:t>
            </a:r>
            <a:endParaRPr lang="en-US" sz="1300" dirty="0"/>
          </a:p>
        </p:txBody>
      </p:sp>
      <p:sp>
        <p:nvSpPr>
          <p:cNvPr id="6" name="Shape 4"/>
          <p:cNvSpPr/>
          <p:nvPr/>
        </p:nvSpPr>
        <p:spPr>
          <a:xfrm>
            <a:off x="4572000" y="1371600"/>
            <a:ext cx="0" cy="3108960"/>
          </a:xfrm>
          <a:prstGeom prst="line">
            <a:avLst/>
          </a:prstGeom>
          <a:noFill/>
          <a:ln w="12700">
            <a:solidFill>
              <a:srgbClr val="1C7293"/>
            </a:solidFill>
            <a:prstDash val="solid"/>
          </a:ln>
        </p:spPr>
      </p:sp>
      <p:sp>
        <p:nvSpPr>
          <p:cNvPr id="7" name="Text 5"/>
          <p:cNvSpPr/>
          <p:nvPr/>
        </p:nvSpPr>
        <p:spPr>
          <a:xfrm>
            <a:off x="4754880" y="1325880"/>
            <a:ext cx="3931920" cy="365760"/>
          </a:xfrm>
          <a:prstGeom prst="rect">
            <a:avLst/>
          </a:prstGeom>
          <a:noFill/>
          <a:ln/>
        </p:spPr>
        <p:txBody>
          <a:bodyPr wrap="square" lIns="0" tIns="0" rIns="0" bIns="0" rtlCol="0" anchor="ctr"/>
          <a:lstStyle/>
          <a:p>
            <a:pPr indent="0" marL="0">
              <a:buNone/>
            </a:pPr>
            <a:r>
              <a:rPr lang="en-US" sz="1600" b="1" dirty="0">
                <a:solidFill>
                  <a:srgbClr val="1C7293"/>
                </a:solidFill>
                <a:latin typeface="Georgia" pitchFamily="34" charset="0"/>
                <a:ea typeface="Georgia" pitchFamily="34" charset="-122"/>
                <a:cs typeface="Georgia" pitchFamily="34" charset="-120"/>
              </a:rPr>
              <a:t>The contribution</a:t>
            </a:r>
            <a:endParaRPr lang="en-US" sz="1600" dirty="0"/>
          </a:p>
        </p:txBody>
      </p:sp>
      <p:sp>
        <p:nvSpPr>
          <p:cNvPr id="8" name="Text 6"/>
          <p:cNvSpPr/>
          <p:nvPr/>
        </p:nvSpPr>
        <p:spPr>
          <a:xfrm>
            <a:off x="4754880" y="1737360"/>
            <a:ext cx="3931920" cy="2743200"/>
          </a:xfrm>
          <a:prstGeom prst="rect">
            <a:avLst/>
          </a:prstGeom>
          <a:noFill/>
          <a:ln/>
        </p:spPr>
        <p:txBody>
          <a:bodyPr wrap="square"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An explicit production layer</a:t>
            </a:r>
            <a:endParaRPr lang="en-US" sz="1200" dirty="0"/>
          </a:p>
          <a:p>
            <a:pPr indent="0" marL="0">
              <a:buNone/>
            </a:pPr>
            <a:r>
              <a:rPr lang="en-US" sz="1200" dirty="0">
                <a:solidFill>
                  <a:srgbClr val="1A2332"/>
                </a:solidFill>
                <a:latin typeface="Calibri" pitchFamily="34" charset="0"/>
                <a:ea typeface="Calibri" pitchFamily="34" charset="-122"/>
                <a:cs typeface="Calibri" pitchFamily="34" charset="-120"/>
              </a:rPr>
              <a:t>Chadwick's framework treats who can produce political video as exogenous. The 2026 Pratt case shows it isn't.</a:t>
            </a:r>
            <a:endParaRPr lang="en-US" sz="1200" dirty="0"/>
          </a:p>
          <a:p>
            <a:pPr indent="0" marL="0">
              <a:buNone/>
            </a:pPr>
            <a:r>
              <a:rPr lang="en-US" sz="600" dirty="0">
                <a:solidFill>
                  <a:srgbClr val="1A2332"/>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1A2332"/>
                </a:solidFill>
                <a:latin typeface="Calibri" pitchFamily="34" charset="0"/>
                <a:ea typeface="Calibri" pitchFamily="34" charset="-122"/>
                <a:cs typeface="Calibri" pitchFamily="34" charset="-120"/>
              </a:rPr>
              <a:t>Consumer-accessible generative video tools collapse the cost of cinematic political imagery by an order of magnitude — opening the production layer to a new supplier population.</a:t>
            </a:r>
            <a:endParaRPr lang="en-US" sz="1200" dirty="0"/>
          </a:p>
          <a:p>
            <a:pPr indent="0" marL="0">
              <a:buNone/>
            </a:pPr>
            <a:r>
              <a:rPr lang="en-US" sz="600" dirty="0">
                <a:solidFill>
                  <a:srgbClr val="1A2332"/>
                </a:solidFill>
                <a:latin typeface="Calibri" pitchFamily="34" charset="0"/>
                <a:ea typeface="Calibri" pitchFamily="34" charset="-122"/>
                <a:cs typeface="Calibri" pitchFamily="34" charset="-120"/>
              </a:rPr>
              <a:t> </a:t>
            </a:r>
            <a:endParaRPr lang="en-US" sz="1200" dirty="0"/>
          </a:p>
          <a:p>
            <a:pPr indent="0" marL="0">
              <a:buNone/>
            </a:pPr>
            <a:r>
              <a:rPr lang="en-US" sz="1200" i="1" dirty="0">
                <a:solidFill>
                  <a:srgbClr val="1C7293"/>
                </a:solidFill>
                <a:latin typeface="Calibri" pitchFamily="34" charset="0"/>
                <a:ea typeface="Calibri" pitchFamily="34" charset="-122"/>
                <a:cs typeface="Calibri" pitchFamily="34" charset="-120"/>
              </a:rPr>
              <a:t>This is an infrastructural change, distinct from changes in distribution or audience composition.</a:t>
            </a:r>
            <a:endParaRPr lang="en-US" sz="1200" dirty="0"/>
          </a:p>
        </p:txBody>
      </p:sp>
      <p:sp>
        <p:nvSpPr>
          <p:cNvPr id="9" name="Text 7"/>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10" name="Text 8"/>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5 / 13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The Pratt campaign</a:t>
            </a:r>
            <a:endParaRPr lang="en-US" sz="3200" dirty="0"/>
          </a:p>
        </p:txBody>
      </p:sp>
      <p:sp>
        <p:nvSpPr>
          <p:cNvPr id="3" name="Shape 1"/>
          <p:cNvSpPr/>
          <p:nvPr/>
        </p:nvSpPr>
        <p:spPr>
          <a:xfrm>
            <a:off x="457200" y="1097280"/>
            <a:ext cx="1097280" cy="0"/>
          </a:xfrm>
          <a:prstGeom prst="line">
            <a:avLst/>
          </a:prstGeom>
          <a:noFill/>
          <a:ln w="25400">
            <a:solidFill>
              <a:srgbClr val="E07A5F"/>
            </a:solidFill>
            <a:prstDash val="solid"/>
          </a:ln>
        </p:spPr>
      </p:sp>
      <p:sp>
        <p:nvSpPr>
          <p:cNvPr id="4" name="Text 2"/>
          <p:cNvSpPr/>
          <p:nvPr/>
        </p:nvSpPr>
        <p:spPr>
          <a:xfrm>
            <a:off x="457200" y="1325880"/>
            <a:ext cx="8229600" cy="411480"/>
          </a:xfrm>
          <a:prstGeom prst="rect">
            <a:avLst/>
          </a:prstGeom>
          <a:noFill/>
          <a:ln/>
        </p:spPr>
        <p:txBody>
          <a:bodyPr wrap="square" lIns="0" tIns="0" rIns="0" bIns="0" rtlCol="0" anchor="ctr"/>
          <a:lstStyle/>
          <a:p>
            <a:pPr indent="0" marL="0">
              <a:buNone/>
            </a:pPr>
            <a:r>
              <a:rPr lang="en-US" sz="1800" i="1" dirty="0">
                <a:solidFill>
                  <a:srgbClr val="1C7293"/>
                </a:solidFill>
                <a:latin typeface="Georgia" pitchFamily="34" charset="0"/>
                <a:ea typeface="Georgia" pitchFamily="34" charset="-122"/>
                <a:cs typeface="Georgia" pitchFamily="34" charset="-120"/>
              </a:rPr>
              <a:t>Not a vanity candidate</a:t>
            </a:r>
            <a:endParaRPr lang="en-US" sz="1800" dirty="0"/>
          </a:p>
        </p:txBody>
      </p:sp>
      <p:sp>
        <p:nvSpPr>
          <p:cNvPr id="5" name="Shape 3"/>
          <p:cNvSpPr/>
          <p:nvPr/>
        </p:nvSpPr>
        <p:spPr>
          <a:xfrm>
            <a:off x="457200" y="1920240"/>
            <a:ext cx="2651760" cy="1645920"/>
          </a:xfrm>
          <a:prstGeom prst="rect">
            <a:avLst/>
          </a:prstGeom>
          <a:solidFill>
            <a:srgbClr val="E8F1F8"/>
          </a:solidFill>
          <a:ln w="12700">
            <a:solidFill>
              <a:srgbClr val="1C7293"/>
            </a:solidFill>
            <a:prstDash val="solid"/>
          </a:ln>
        </p:spPr>
      </p:sp>
      <p:sp>
        <p:nvSpPr>
          <p:cNvPr id="6" name="Text 4"/>
          <p:cNvSpPr/>
          <p:nvPr/>
        </p:nvSpPr>
        <p:spPr>
          <a:xfrm>
            <a:off x="548640" y="2148840"/>
            <a:ext cx="2468880" cy="777240"/>
          </a:xfrm>
          <a:prstGeom prst="rect">
            <a:avLst/>
          </a:prstGeom>
          <a:noFill/>
          <a:ln/>
        </p:spPr>
        <p:txBody>
          <a:bodyPr wrap="square" lIns="0" tIns="0" rIns="0" bIns="0" rtlCol="0" anchor="ctr"/>
          <a:lstStyle/>
          <a:p>
            <a:pPr algn="ctr" indent="0" marL="0">
              <a:buNone/>
            </a:pPr>
            <a:r>
              <a:rPr lang="en-US" sz="3800" b="1" dirty="0">
                <a:solidFill>
                  <a:srgbClr val="0A2540"/>
                </a:solidFill>
                <a:latin typeface="Georgia" pitchFamily="34" charset="0"/>
                <a:ea typeface="Georgia" pitchFamily="34" charset="-122"/>
                <a:cs typeface="Georgia" pitchFamily="34" charset="-120"/>
              </a:rPr>
              <a:t>22%</a:t>
            </a:r>
            <a:endParaRPr lang="en-US" sz="3800" dirty="0"/>
          </a:p>
        </p:txBody>
      </p:sp>
      <p:sp>
        <p:nvSpPr>
          <p:cNvPr id="7" name="Text 5"/>
          <p:cNvSpPr/>
          <p:nvPr/>
        </p:nvSpPr>
        <p:spPr>
          <a:xfrm>
            <a:off x="594360" y="2971800"/>
            <a:ext cx="2377440" cy="548640"/>
          </a:xfrm>
          <a:prstGeom prst="rect">
            <a:avLst/>
          </a:prstGeom>
          <a:noFill/>
          <a:ln/>
        </p:spPr>
        <p:txBody>
          <a:bodyPr wrap="square" lIns="0" tIns="0" rIns="0" bIns="0" rtlCol="0" anchor="ctr"/>
          <a:lstStyle/>
          <a:p>
            <a:pPr algn="ctr" indent="0" marL="0">
              <a:buNone/>
            </a:pPr>
            <a:r>
              <a:rPr lang="en-US" sz="1100" dirty="0">
                <a:solidFill>
                  <a:srgbClr val="1A2332"/>
                </a:solidFill>
                <a:latin typeface="Calibri" pitchFamily="34" charset="0"/>
                <a:ea typeface="Calibri" pitchFamily="34" charset="-122"/>
                <a:cs typeface="Calibri" pitchFamily="34" charset="-120"/>
              </a:rPr>
              <a:t>Pratt in mid-May Emerson poll (Bass 30%, Raman 19%)</a:t>
            </a:r>
            <a:endParaRPr lang="en-US" sz="1100" dirty="0"/>
          </a:p>
        </p:txBody>
      </p:sp>
      <p:sp>
        <p:nvSpPr>
          <p:cNvPr id="8" name="Shape 6"/>
          <p:cNvSpPr/>
          <p:nvPr/>
        </p:nvSpPr>
        <p:spPr>
          <a:xfrm>
            <a:off x="3246120" y="1920240"/>
            <a:ext cx="2651760" cy="1645920"/>
          </a:xfrm>
          <a:prstGeom prst="rect">
            <a:avLst/>
          </a:prstGeom>
          <a:solidFill>
            <a:srgbClr val="E8F1F8"/>
          </a:solidFill>
          <a:ln w="12700">
            <a:solidFill>
              <a:srgbClr val="1C7293"/>
            </a:solidFill>
            <a:prstDash val="solid"/>
          </a:ln>
        </p:spPr>
      </p:sp>
      <p:sp>
        <p:nvSpPr>
          <p:cNvPr id="9" name="Text 7"/>
          <p:cNvSpPr/>
          <p:nvPr/>
        </p:nvSpPr>
        <p:spPr>
          <a:xfrm>
            <a:off x="3337560" y="2148840"/>
            <a:ext cx="2468880" cy="777240"/>
          </a:xfrm>
          <a:prstGeom prst="rect">
            <a:avLst/>
          </a:prstGeom>
          <a:noFill/>
          <a:ln/>
        </p:spPr>
        <p:txBody>
          <a:bodyPr wrap="square" lIns="0" tIns="0" rIns="0" bIns="0" rtlCol="0" anchor="ctr"/>
          <a:lstStyle/>
          <a:p>
            <a:pPr algn="ctr" indent="0" marL="0">
              <a:buNone/>
            </a:pPr>
            <a:r>
              <a:rPr lang="en-US" sz="3800" b="1" dirty="0">
                <a:solidFill>
                  <a:srgbClr val="0A2540"/>
                </a:solidFill>
                <a:latin typeface="Georgia" pitchFamily="34" charset="0"/>
                <a:ea typeface="Georgia" pitchFamily="34" charset="-122"/>
                <a:cs typeface="Georgia" pitchFamily="34" charset="-120"/>
              </a:rPr>
              <a:t>10→22%</a:t>
            </a:r>
            <a:endParaRPr lang="en-US" sz="3800" dirty="0"/>
          </a:p>
        </p:txBody>
      </p:sp>
      <p:sp>
        <p:nvSpPr>
          <p:cNvPr id="10" name="Text 8"/>
          <p:cNvSpPr/>
          <p:nvPr/>
        </p:nvSpPr>
        <p:spPr>
          <a:xfrm>
            <a:off x="3383280" y="2971800"/>
            <a:ext cx="2377440" cy="548640"/>
          </a:xfrm>
          <a:prstGeom prst="rect">
            <a:avLst/>
          </a:prstGeom>
          <a:noFill/>
          <a:ln/>
        </p:spPr>
        <p:txBody>
          <a:bodyPr wrap="square" lIns="0" tIns="0" rIns="0" bIns="0" rtlCol="0" anchor="ctr"/>
          <a:lstStyle/>
          <a:p>
            <a:pPr algn="ctr" indent="0" marL="0">
              <a:buNone/>
            </a:pPr>
            <a:r>
              <a:rPr lang="en-US" sz="1100" dirty="0">
                <a:solidFill>
                  <a:srgbClr val="1A2332"/>
                </a:solidFill>
                <a:latin typeface="Calibri" pitchFamily="34" charset="0"/>
                <a:ea typeface="Calibri" pitchFamily="34" charset="-122"/>
                <a:cs typeface="Calibri" pitchFamily="34" charset="-120"/>
              </a:rPr>
              <a:t>Polling movement March → May 2026</a:t>
            </a:r>
            <a:endParaRPr lang="en-US" sz="1100" dirty="0"/>
          </a:p>
        </p:txBody>
      </p:sp>
      <p:sp>
        <p:nvSpPr>
          <p:cNvPr id="11" name="Shape 9"/>
          <p:cNvSpPr/>
          <p:nvPr/>
        </p:nvSpPr>
        <p:spPr>
          <a:xfrm>
            <a:off x="6035040" y="1920240"/>
            <a:ext cx="2651760" cy="1645920"/>
          </a:xfrm>
          <a:prstGeom prst="rect">
            <a:avLst/>
          </a:prstGeom>
          <a:solidFill>
            <a:srgbClr val="E8F1F8"/>
          </a:solidFill>
          <a:ln w="12700">
            <a:solidFill>
              <a:srgbClr val="1C7293"/>
            </a:solidFill>
            <a:prstDash val="solid"/>
          </a:ln>
        </p:spPr>
      </p:sp>
      <p:sp>
        <p:nvSpPr>
          <p:cNvPr id="12" name="Text 10"/>
          <p:cNvSpPr/>
          <p:nvPr/>
        </p:nvSpPr>
        <p:spPr>
          <a:xfrm>
            <a:off x="6126480" y="2148840"/>
            <a:ext cx="2468880" cy="777240"/>
          </a:xfrm>
          <a:prstGeom prst="rect">
            <a:avLst/>
          </a:prstGeom>
          <a:noFill/>
          <a:ln/>
        </p:spPr>
        <p:txBody>
          <a:bodyPr wrap="square" lIns="0" tIns="0" rIns="0" bIns="0" rtlCol="0" anchor="ctr"/>
          <a:lstStyle/>
          <a:p>
            <a:pPr algn="ctr" indent="0" marL="0">
              <a:buNone/>
            </a:pPr>
            <a:r>
              <a:rPr lang="en-US" sz="3800" b="1" dirty="0">
                <a:solidFill>
                  <a:srgbClr val="0A2540"/>
                </a:solidFill>
                <a:latin typeface="Georgia" pitchFamily="34" charset="0"/>
                <a:ea typeface="Georgia" pitchFamily="34" charset="-122"/>
                <a:cs typeface="Georgia" pitchFamily="34" charset="-120"/>
              </a:rPr>
              <a:t>$530K</a:t>
            </a:r>
            <a:endParaRPr lang="en-US" sz="3800" dirty="0"/>
          </a:p>
        </p:txBody>
      </p:sp>
      <p:sp>
        <p:nvSpPr>
          <p:cNvPr id="13" name="Text 11"/>
          <p:cNvSpPr/>
          <p:nvPr/>
        </p:nvSpPr>
        <p:spPr>
          <a:xfrm>
            <a:off x="6172200" y="2971800"/>
            <a:ext cx="2377440" cy="548640"/>
          </a:xfrm>
          <a:prstGeom prst="rect">
            <a:avLst/>
          </a:prstGeom>
          <a:noFill/>
          <a:ln/>
        </p:spPr>
        <p:txBody>
          <a:bodyPr wrap="square" lIns="0" tIns="0" rIns="0" bIns="0" rtlCol="0" anchor="ctr"/>
          <a:lstStyle/>
          <a:p>
            <a:pPr algn="ctr" indent="0" marL="0">
              <a:buNone/>
            </a:pPr>
            <a:r>
              <a:rPr lang="en-US" sz="1100" dirty="0">
                <a:solidFill>
                  <a:srgbClr val="1A2332"/>
                </a:solidFill>
                <a:latin typeface="Calibri" pitchFamily="34" charset="0"/>
                <a:ea typeface="Calibri" pitchFamily="34" charset="-122"/>
                <a:cs typeface="Calibri" pitchFamily="34" charset="-120"/>
              </a:rPr>
              <a:t>Pratt fundraising since February (Bass: $494K in cycle)</a:t>
            </a:r>
            <a:endParaRPr lang="en-US" sz="1100" dirty="0"/>
          </a:p>
        </p:txBody>
      </p:sp>
      <p:sp>
        <p:nvSpPr>
          <p:cNvPr id="14" name="Text 12"/>
          <p:cNvSpPr/>
          <p:nvPr/>
        </p:nvSpPr>
        <p:spPr>
          <a:xfrm>
            <a:off x="457200" y="3794760"/>
            <a:ext cx="8229600" cy="731520"/>
          </a:xfrm>
          <a:prstGeom prst="rect">
            <a:avLst/>
          </a:prstGeom>
          <a:noFill/>
          <a:ln/>
        </p:spPr>
        <p:txBody>
          <a:bodyPr wrap="square" lIns="0" tIns="0" rIns="0" bIns="0" rtlCol="0" anchor="ctr"/>
          <a:lstStyle/>
          <a:p>
            <a:pPr indent="0" marL="0">
              <a:buNone/>
            </a:pPr>
            <a:r>
              <a:rPr lang="en-US" sz="1200" i="1" dirty="0">
                <a:solidFill>
                  <a:srgbClr val="1A2332"/>
                </a:solidFill>
                <a:latin typeface="Calibri" pitchFamily="34" charset="0"/>
                <a:ea typeface="Calibri" pitchFamily="34" charset="-122"/>
                <a:cs typeface="Calibri" pitchFamily="34" charset="-120"/>
              </a:rPr>
              <a:t>Pratt won a televised debate (NBC4 / Telemundo 52, May 2026) by the assessment of contemporary observers; Bass canceled the next one. The configuration is the principal media strategy of a real campaign.</a:t>
            </a:r>
            <a:endParaRPr lang="en-US" sz="1200" dirty="0"/>
          </a:p>
        </p:txBody>
      </p:sp>
      <p:sp>
        <p:nvSpPr>
          <p:cNvPr id="15" name="Text 13"/>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16" name="Text 14"/>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6 / 13</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1F8"/>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Four artifacts</a:t>
            </a:r>
            <a:endParaRPr lang="en-US" sz="3200" dirty="0"/>
          </a:p>
        </p:txBody>
      </p:sp>
      <p:sp>
        <p:nvSpPr>
          <p:cNvPr id="3" name="Shape 1"/>
          <p:cNvSpPr/>
          <p:nvPr/>
        </p:nvSpPr>
        <p:spPr>
          <a:xfrm>
            <a:off x="457200" y="1097280"/>
            <a:ext cx="1097280" cy="0"/>
          </a:xfrm>
          <a:prstGeom prst="line">
            <a:avLst/>
          </a:prstGeom>
          <a:noFill/>
          <a:ln w="25400">
            <a:solidFill>
              <a:srgbClr val="E07A5F"/>
            </a:solidFill>
            <a:prstDash val="solid"/>
          </a:ln>
        </p:spPr>
      </p:sp>
      <p:sp>
        <p:nvSpPr>
          <p:cNvPr id="4" name="Shape 2"/>
          <p:cNvSpPr/>
          <p:nvPr/>
        </p:nvSpPr>
        <p:spPr>
          <a:xfrm>
            <a:off x="457200" y="1371600"/>
            <a:ext cx="4023360" cy="1600200"/>
          </a:xfrm>
          <a:prstGeom prst="rect">
            <a:avLst/>
          </a:prstGeom>
          <a:solidFill>
            <a:srgbClr val="FFFFFF"/>
          </a:solidFill>
          <a:ln w="12700">
            <a:solidFill>
              <a:srgbClr val="E07A5F"/>
            </a:solidFill>
            <a:prstDash val="solid"/>
          </a:ln>
        </p:spPr>
      </p:sp>
      <p:sp>
        <p:nvSpPr>
          <p:cNvPr id="5" name="Shape 3"/>
          <p:cNvSpPr/>
          <p:nvPr/>
        </p:nvSpPr>
        <p:spPr>
          <a:xfrm>
            <a:off x="457200" y="1371600"/>
            <a:ext cx="91440" cy="1600200"/>
          </a:xfrm>
          <a:prstGeom prst="rect">
            <a:avLst/>
          </a:prstGeom>
          <a:solidFill>
            <a:srgbClr val="E07A5F"/>
          </a:solidFill>
          <a:ln w="12700">
            <a:solidFill>
              <a:srgbClr val="E07A5F"/>
            </a:solidFill>
            <a:prstDash val="solid"/>
          </a:ln>
        </p:spPr>
      </p:sp>
      <p:sp>
        <p:nvSpPr>
          <p:cNvPr id="6" name="Text 4"/>
          <p:cNvSpPr/>
          <p:nvPr/>
        </p:nvSpPr>
        <p:spPr>
          <a:xfrm>
            <a:off x="685800" y="1463040"/>
            <a:ext cx="1371600" cy="274320"/>
          </a:xfrm>
          <a:prstGeom prst="rect">
            <a:avLst/>
          </a:prstGeom>
          <a:noFill/>
          <a:ln/>
        </p:spPr>
        <p:txBody>
          <a:bodyPr wrap="square" lIns="0" tIns="0" rIns="0" bIns="0" rtlCol="0" anchor="ctr"/>
          <a:lstStyle/>
          <a:p>
            <a:pPr indent="0" marL="0">
              <a:buNone/>
            </a:pPr>
            <a:r>
              <a:rPr lang="en-US" sz="900" b="1" spc="200" kern="0" dirty="0">
                <a:solidFill>
                  <a:srgbClr val="E07A5F"/>
                </a:solidFill>
                <a:latin typeface="Calibri" pitchFamily="34" charset="0"/>
                <a:ea typeface="Calibri" pitchFamily="34" charset="-122"/>
                <a:cs typeface="Calibri" pitchFamily="34" charset="-120"/>
              </a:rPr>
              <a:t>SUPPORTER</a:t>
            </a:r>
            <a:endParaRPr lang="en-US" sz="900" dirty="0"/>
          </a:p>
        </p:txBody>
      </p:sp>
      <p:sp>
        <p:nvSpPr>
          <p:cNvPr id="7" name="Text 5"/>
          <p:cNvSpPr/>
          <p:nvPr/>
        </p:nvSpPr>
        <p:spPr>
          <a:xfrm>
            <a:off x="685800" y="1737360"/>
            <a:ext cx="3657600" cy="411480"/>
          </a:xfrm>
          <a:prstGeom prst="rect">
            <a:avLst/>
          </a:prstGeom>
          <a:noFill/>
          <a:ln/>
        </p:spPr>
        <p:txBody>
          <a:bodyPr wrap="square" lIns="0" tIns="0" rIns="0" bIns="0"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Batman ad</a:t>
            </a:r>
            <a:endParaRPr lang="en-US" sz="1800" dirty="0"/>
          </a:p>
        </p:txBody>
      </p:sp>
      <p:sp>
        <p:nvSpPr>
          <p:cNvPr id="8" name="Text 6"/>
          <p:cNvSpPr/>
          <p:nvPr/>
        </p:nvSpPr>
        <p:spPr>
          <a:xfrm>
            <a:off x="685800" y="2148840"/>
            <a:ext cx="365760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Charlie Curran / Menace Studios</a:t>
            </a:r>
            <a:endParaRPr lang="en-US" sz="1100" dirty="0"/>
          </a:p>
        </p:txBody>
      </p:sp>
      <p:sp>
        <p:nvSpPr>
          <p:cNvPr id="9" name="Text 7"/>
          <p:cNvSpPr/>
          <p:nvPr/>
        </p:nvSpPr>
        <p:spPr>
          <a:xfrm>
            <a:off x="685800" y="2423160"/>
            <a:ext cx="3657600" cy="50292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LA-as-Gotham, Bass as Joker. 3.9M views in ~24h. Bush, Cruz, Gaetz amplification.</a:t>
            </a:r>
            <a:endParaRPr lang="en-US" sz="1100" dirty="0"/>
          </a:p>
        </p:txBody>
      </p:sp>
      <p:sp>
        <p:nvSpPr>
          <p:cNvPr id="10" name="Shape 8"/>
          <p:cNvSpPr/>
          <p:nvPr/>
        </p:nvSpPr>
        <p:spPr>
          <a:xfrm>
            <a:off x="4663440" y="1371600"/>
            <a:ext cx="4023360" cy="1600200"/>
          </a:xfrm>
          <a:prstGeom prst="rect">
            <a:avLst/>
          </a:prstGeom>
          <a:solidFill>
            <a:srgbClr val="FFFFFF"/>
          </a:solidFill>
          <a:ln w="12700">
            <a:solidFill>
              <a:srgbClr val="E07A5F"/>
            </a:solidFill>
            <a:prstDash val="solid"/>
          </a:ln>
        </p:spPr>
      </p:sp>
      <p:sp>
        <p:nvSpPr>
          <p:cNvPr id="11" name="Shape 9"/>
          <p:cNvSpPr/>
          <p:nvPr/>
        </p:nvSpPr>
        <p:spPr>
          <a:xfrm>
            <a:off x="4663440" y="1371600"/>
            <a:ext cx="91440" cy="1600200"/>
          </a:xfrm>
          <a:prstGeom prst="rect">
            <a:avLst/>
          </a:prstGeom>
          <a:solidFill>
            <a:srgbClr val="E07A5F"/>
          </a:solidFill>
          <a:ln w="12700">
            <a:solidFill>
              <a:srgbClr val="E07A5F"/>
            </a:solidFill>
            <a:prstDash val="solid"/>
          </a:ln>
        </p:spPr>
      </p:sp>
      <p:sp>
        <p:nvSpPr>
          <p:cNvPr id="12" name="Text 10"/>
          <p:cNvSpPr/>
          <p:nvPr/>
        </p:nvSpPr>
        <p:spPr>
          <a:xfrm>
            <a:off x="4892040" y="1463040"/>
            <a:ext cx="1371600" cy="274320"/>
          </a:xfrm>
          <a:prstGeom prst="rect">
            <a:avLst/>
          </a:prstGeom>
          <a:noFill/>
          <a:ln/>
        </p:spPr>
        <p:txBody>
          <a:bodyPr wrap="square" lIns="0" tIns="0" rIns="0" bIns="0" rtlCol="0" anchor="ctr"/>
          <a:lstStyle/>
          <a:p>
            <a:pPr indent="0" marL="0">
              <a:buNone/>
            </a:pPr>
            <a:r>
              <a:rPr lang="en-US" sz="900" b="1" spc="200" kern="0" dirty="0">
                <a:solidFill>
                  <a:srgbClr val="E07A5F"/>
                </a:solidFill>
                <a:latin typeface="Calibri" pitchFamily="34" charset="0"/>
                <a:ea typeface="Calibri" pitchFamily="34" charset="-122"/>
                <a:cs typeface="Calibri" pitchFamily="34" charset="-120"/>
              </a:rPr>
              <a:t>SUPPORTER</a:t>
            </a:r>
            <a:endParaRPr lang="en-US" sz="900" dirty="0"/>
          </a:p>
        </p:txBody>
      </p:sp>
      <p:sp>
        <p:nvSpPr>
          <p:cNvPr id="13" name="Text 11"/>
          <p:cNvSpPr/>
          <p:nvPr/>
        </p:nvSpPr>
        <p:spPr>
          <a:xfrm>
            <a:off x="4892040" y="1737360"/>
            <a:ext cx="3657600" cy="411480"/>
          </a:xfrm>
          <a:prstGeom prst="rect">
            <a:avLst/>
          </a:prstGeom>
          <a:noFill/>
          <a:ln/>
        </p:spPr>
        <p:txBody>
          <a:bodyPr wrap="square" lIns="0" tIns="0" rIns="0" bIns="0"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Saca La Bassura</a:t>
            </a:r>
            <a:endParaRPr lang="en-US" sz="1800" dirty="0"/>
          </a:p>
        </p:txBody>
      </p:sp>
      <p:sp>
        <p:nvSpPr>
          <p:cNvPr id="14" name="Text 12"/>
          <p:cNvSpPr/>
          <p:nvPr/>
        </p:nvSpPr>
        <p:spPr>
          <a:xfrm>
            <a:off x="4892040" y="2148840"/>
            <a:ext cx="365760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Adrian Alvarez / Latinos Por Pratt</a:t>
            </a:r>
            <a:endParaRPr lang="en-US" sz="1100" dirty="0"/>
          </a:p>
        </p:txBody>
      </p:sp>
      <p:sp>
        <p:nvSpPr>
          <p:cNvPr id="15" name="Text 13"/>
          <p:cNvSpPr/>
          <p:nvPr/>
        </p:nvSpPr>
        <p:spPr>
          <a:xfrm>
            <a:off x="4892040" y="2423160"/>
            <a:ext cx="3657600" cy="50292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Spanish-language AI salsa. Cultural-fit failure per Arellano (LA Times).</a:t>
            </a:r>
            <a:endParaRPr lang="en-US" sz="1100" dirty="0"/>
          </a:p>
        </p:txBody>
      </p:sp>
      <p:sp>
        <p:nvSpPr>
          <p:cNvPr id="16" name="Shape 14"/>
          <p:cNvSpPr/>
          <p:nvPr/>
        </p:nvSpPr>
        <p:spPr>
          <a:xfrm>
            <a:off x="457200" y="3154680"/>
            <a:ext cx="4023360" cy="1600200"/>
          </a:xfrm>
          <a:prstGeom prst="rect">
            <a:avLst/>
          </a:prstGeom>
          <a:solidFill>
            <a:srgbClr val="FFFFFF"/>
          </a:solidFill>
          <a:ln w="12700">
            <a:solidFill>
              <a:srgbClr val="1C7293"/>
            </a:solidFill>
            <a:prstDash val="solid"/>
          </a:ln>
        </p:spPr>
      </p:sp>
      <p:sp>
        <p:nvSpPr>
          <p:cNvPr id="17" name="Shape 15"/>
          <p:cNvSpPr/>
          <p:nvPr/>
        </p:nvSpPr>
        <p:spPr>
          <a:xfrm>
            <a:off x="457200" y="3154680"/>
            <a:ext cx="91440" cy="1600200"/>
          </a:xfrm>
          <a:prstGeom prst="rect">
            <a:avLst/>
          </a:prstGeom>
          <a:solidFill>
            <a:srgbClr val="1C7293"/>
          </a:solidFill>
          <a:ln w="12700">
            <a:solidFill>
              <a:srgbClr val="1C7293"/>
            </a:solidFill>
            <a:prstDash val="solid"/>
          </a:ln>
        </p:spPr>
      </p:sp>
      <p:sp>
        <p:nvSpPr>
          <p:cNvPr id="18" name="Text 16"/>
          <p:cNvSpPr/>
          <p:nvPr/>
        </p:nvSpPr>
        <p:spPr>
          <a:xfrm>
            <a:off x="685800" y="3246120"/>
            <a:ext cx="1371600" cy="27432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CAMPAIGN</a:t>
            </a:r>
            <a:endParaRPr lang="en-US" sz="900" dirty="0"/>
          </a:p>
        </p:txBody>
      </p:sp>
      <p:sp>
        <p:nvSpPr>
          <p:cNvPr id="19" name="Text 17"/>
          <p:cNvSpPr/>
          <p:nvPr/>
        </p:nvSpPr>
        <p:spPr>
          <a:xfrm>
            <a:off x="685800" y="3520440"/>
            <a:ext cx="3657600" cy="411480"/>
          </a:xfrm>
          <a:prstGeom prst="rect">
            <a:avLst/>
          </a:prstGeom>
          <a:noFill/>
          <a:ln/>
        </p:spPr>
        <p:txBody>
          <a:bodyPr wrap="square" lIns="0" tIns="0" rIns="0" bIns="0"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Fresh Prince parody</a:t>
            </a:r>
            <a:endParaRPr lang="en-US" sz="1800" dirty="0"/>
          </a:p>
        </p:txBody>
      </p:sp>
      <p:sp>
        <p:nvSpPr>
          <p:cNvPr id="20" name="Text 18"/>
          <p:cNvSpPr/>
          <p:nvPr/>
        </p:nvSpPr>
        <p:spPr>
          <a:xfrm>
            <a:off x="685800" y="3931920"/>
            <a:ext cx="365760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Pratt's own Instagram (May 18, 2026)</a:t>
            </a:r>
            <a:endParaRPr lang="en-US" sz="1100" dirty="0"/>
          </a:p>
        </p:txBody>
      </p:sp>
      <p:sp>
        <p:nvSpPr>
          <p:cNvPr id="21" name="Text 19"/>
          <p:cNvSpPr/>
          <p:nvPr/>
        </p:nvSpPr>
        <p:spPr>
          <a:xfrm>
            <a:off x="685800" y="4206240"/>
            <a:ext cx="3657600" cy="50292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Candidate-produced. Hotel Bel-Air ending triggers backlash.</a:t>
            </a:r>
            <a:endParaRPr lang="en-US" sz="1100" dirty="0"/>
          </a:p>
        </p:txBody>
      </p:sp>
      <p:sp>
        <p:nvSpPr>
          <p:cNvPr id="22" name="Shape 20"/>
          <p:cNvSpPr/>
          <p:nvPr/>
        </p:nvSpPr>
        <p:spPr>
          <a:xfrm>
            <a:off x="4663440" y="3154680"/>
            <a:ext cx="4023360" cy="1600200"/>
          </a:xfrm>
          <a:prstGeom prst="rect">
            <a:avLst/>
          </a:prstGeom>
          <a:solidFill>
            <a:srgbClr val="FFFFFF"/>
          </a:solidFill>
          <a:ln w="12700">
            <a:solidFill>
              <a:srgbClr val="1C7293"/>
            </a:solidFill>
            <a:prstDash val="solid"/>
          </a:ln>
        </p:spPr>
      </p:sp>
      <p:sp>
        <p:nvSpPr>
          <p:cNvPr id="23" name="Shape 21"/>
          <p:cNvSpPr/>
          <p:nvPr/>
        </p:nvSpPr>
        <p:spPr>
          <a:xfrm>
            <a:off x="4663440" y="3154680"/>
            <a:ext cx="91440" cy="1600200"/>
          </a:xfrm>
          <a:prstGeom prst="rect">
            <a:avLst/>
          </a:prstGeom>
          <a:solidFill>
            <a:srgbClr val="1C7293"/>
          </a:solidFill>
          <a:ln w="12700">
            <a:solidFill>
              <a:srgbClr val="1C7293"/>
            </a:solidFill>
            <a:prstDash val="solid"/>
          </a:ln>
        </p:spPr>
      </p:sp>
      <p:sp>
        <p:nvSpPr>
          <p:cNvPr id="24" name="Text 22"/>
          <p:cNvSpPr/>
          <p:nvPr/>
        </p:nvSpPr>
        <p:spPr>
          <a:xfrm>
            <a:off x="4892040" y="3246120"/>
            <a:ext cx="1371600" cy="274320"/>
          </a:xfrm>
          <a:prstGeom prst="rect">
            <a:avLst/>
          </a:prstGeom>
          <a:noFill/>
          <a:ln/>
        </p:spPr>
        <p:txBody>
          <a:bodyPr wrap="square" lIns="0" tIns="0" rIns="0" bIns="0" rtlCol="0" anchor="ctr"/>
          <a:lstStyle/>
          <a:p>
            <a:pPr indent="0" marL="0">
              <a:buNone/>
            </a:pPr>
            <a:r>
              <a:rPr lang="en-US" sz="900" b="1" spc="200" kern="0" dirty="0">
                <a:solidFill>
                  <a:srgbClr val="1C7293"/>
                </a:solidFill>
                <a:latin typeface="Calibri" pitchFamily="34" charset="0"/>
                <a:ea typeface="Calibri" pitchFamily="34" charset="-122"/>
                <a:cs typeface="Calibri" pitchFamily="34" charset="-120"/>
              </a:rPr>
              <a:t>CAMPAIGN</a:t>
            </a:r>
            <a:endParaRPr lang="en-US" sz="900" dirty="0"/>
          </a:p>
        </p:txBody>
      </p:sp>
      <p:sp>
        <p:nvSpPr>
          <p:cNvPr id="25" name="Text 23"/>
          <p:cNvSpPr/>
          <p:nvPr/>
        </p:nvSpPr>
        <p:spPr>
          <a:xfrm>
            <a:off x="4892040" y="3520440"/>
            <a:ext cx="3657600" cy="411480"/>
          </a:xfrm>
          <a:prstGeom prst="rect">
            <a:avLst/>
          </a:prstGeom>
          <a:noFill/>
          <a:ln/>
        </p:spPr>
        <p:txBody>
          <a:bodyPr wrap="square" lIns="0" tIns="0" rIns="0" bIns="0" rtlCol="0" anchor="ctr"/>
          <a:lstStyle/>
          <a:p>
            <a:pPr indent="0" marL="0">
              <a:buNone/>
            </a:pPr>
            <a:r>
              <a:rPr lang="en-US" sz="1800" b="1" dirty="0">
                <a:solidFill>
                  <a:srgbClr val="0A2540"/>
                </a:solidFill>
                <a:latin typeface="Georgia" pitchFamily="34" charset="0"/>
                <a:ea typeface="Georgia" pitchFamily="34" charset="-122"/>
                <a:cs typeface="Georgia" pitchFamily="34" charset="-120"/>
              </a:rPr>
              <a:t>They Not Like Us</a:t>
            </a:r>
            <a:endParaRPr lang="en-US" sz="1800" dirty="0"/>
          </a:p>
        </p:txBody>
      </p:sp>
      <p:sp>
        <p:nvSpPr>
          <p:cNvPr id="26" name="Text 24"/>
          <p:cNvSpPr/>
          <p:nvPr/>
        </p:nvSpPr>
        <p:spPr>
          <a:xfrm>
            <a:off x="4892040" y="3931920"/>
            <a:ext cx="3657600" cy="274320"/>
          </a:xfrm>
          <a:prstGeom prst="rect">
            <a:avLst/>
          </a:prstGeom>
          <a:noFill/>
          <a:ln/>
        </p:spPr>
        <p:txBody>
          <a:bodyPr wrap="square" lIns="0" tIns="0" rIns="0" bIns="0" rtlCol="0" anchor="ctr"/>
          <a:lstStyle/>
          <a:p>
            <a:pPr indent="0" marL="0">
              <a:buNone/>
            </a:pPr>
            <a:r>
              <a:rPr lang="en-US" sz="1100" i="1" dirty="0">
                <a:solidFill>
                  <a:srgbClr val="1C7293"/>
                </a:solidFill>
                <a:latin typeface="Calibri" pitchFamily="34" charset="0"/>
                <a:ea typeface="Calibri" pitchFamily="34" charset="-122"/>
                <a:cs typeface="Calibri" pitchFamily="34" charset="-120"/>
              </a:rPr>
              <a:t>Campaign-commissioned (April 2026)</a:t>
            </a:r>
            <a:endParaRPr lang="en-US" sz="1100" dirty="0"/>
          </a:p>
        </p:txBody>
      </p:sp>
      <p:sp>
        <p:nvSpPr>
          <p:cNvPr id="27" name="Text 25"/>
          <p:cNvSpPr/>
          <p:nvPr/>
        </p:nvSpPr>
        <p:spPr>
          <a:xfrm>
            <a:off x="4892040" y="4206240"/>
            <a:ext cx="3657600" cy="50292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Kendrick play. Bass mansion → Raman mansion → Pratt's Airstream.</a:t>
            </a:r>
            <a:endParaRPr lang="en-US" sz="1100" dirty="0"/>
          </a:p>
        </p:txBody>
      </p:sp>
      <p:sp>
        <p:nvSpPr>
          <p:cNvPr id="28" name="Text 26"/>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29" name="Text 27"/>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7 / 13</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640080"/>
          </a:xfrm>
          <a:prstGeom prst="rect">
            <a:avLst/>
          </a:prstGeom>
          <a:noFill/>
          <a:ln/>
        </p:spPr>
        <p:txBody>
          <a:bodyPr wrap="square" lIns="0" tIns="0" rIns="0" bIns="0" rtlCol="0" anchor="ctr"/>
          <a:lstStyle/>
          <a:p>
            <a:pPr indent="0" marL="0">
              <a:buNone/>
            </a:pPr>
            <a:r>
              <a:rPr lang="en-US" sz="3000" b="1" dirty="0">
                <a:solidFill>
                  <a:srgbClr val="0A2540"/>
                </a:solidFill>
                <a:latin typeface="Georgia" pitchFamily="34" charset="0"/>
                <a:ea typeface="Georgia" pitchFamily="34" charset="-122"/>
                <a:cs typeface="Georgia" pitchFamily="34" charset="-120"/>
              </a:rPr>
              <a:t>A three-tier typology</a:t>
            </a:r>
            <a:endParaRPr lang="en-US" sz="3000" dirty="0"/>
          </a:p>
        </p:txBody>
      </p:sp>
      <p:sp>
        <p:nvSpPr>
          <p:cNvPr id="3" name="Shape 1"/>
          <p:cNvSpPr/>
          <p:nvPr/>
        </p:nvSpPr>
        <p:spPr>
          <a:xfrm>
            <a:off x="457200" y="1005840"/>
            <a:ext cx="1097280" cy="0"/>
          </a:xfrm>
          <a:prstGeom prst="line">
            <a:avLst/>
          </a:prstGeom>
          <a:noFill/>
          <a:ln w="25400">
            <a:solidFill>
              <a:srgbClr val="E07A5F"/>
            </a:solidFill>
            <a:prstDash val="solid"/>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640080"/>
                <a:gridCol w="2103120"/>
                <a:gridCol w="1828800"/>
                <a:gridCol w="1828800"/>
                <a:gridCol w="1828800"/>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0A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Production source</a:t>
                      </a:r>
                      <a:endParaRPr lang="en-US" sz="12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0A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Cost structure</a:t>
                      </a:r>
                      <a:endParaRPr lang="en-US" sz="12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0A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Attribution</a:t>
                      </a:r>
                      <a:endParaRPr lang="en-US" sz="12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0A2540"/>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Example</a:t>
                      </a:r>
                      <a:endParaRPr lang="en-US" sz="12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0A2540"/>
                    </a:solidFill>
                  </a:tcPr>
                </a:tc>
              </a:tr>
              <a:tr h="411480">
                <a:tc>
                  <a:txBody>
                    <a:bodyPr/>
                    <a:lstStyle/>
                    <a:p>
                      <a:pPr algn="l" indent="0" marL="0">
                        <a:buNone/>
                      </a:pPr>
                      <a:r>
                        <a:rPr lang="en-US" sz="1100" b="1" dirty="0">
                          <a:solidFill>
                            <a:srgbClr val="1A2332"/>
                          </a:solidFill>
                          <a:latin typeface="Calibri" pitchFamily="34" charset="0"/>
                          <a:ea typeface="Calibri" pitchFamily="34" charset="-122"/>
                          <a:cs typeface="Calibri" pitchFamily="34" charset="-120"/>
                        </a:rPr>
                        <a:t>I</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E8F1F8"/>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Campaign / candidate</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Conventional</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Direct</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Fresh Prince; They Not Like Us</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A2332"/>
                          </a:solidFill>
                          <a:latin typeface="Calibri" pitchFamily="34" charset="0"/>
                          <a:ea typeface="Calibri" pitchFamily="34" charset="-122"/>
                          <a:cs typeface="Calibri" pitchFamily="34" charset="-120"/>
                        </a:rPr>
                        <a:t>II</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E8F1F8"/>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Supporters using GenAI</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Near-zero marginal</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Diffuse / contested</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Batman ad; Saca La Bassura</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r>
              <a:tr h="411480">
                <a:tc>
                  <a:txBody>
                    <a:bodyPr/>
                    <a:lstStyle/>
                    <a:p>
                      <a:pPr algn="l" indent="0" marL="0">
                        <a:buNone/>
                      </a:pPr>
                      <a:r>
                        <a:rPr lang="en-US" sz="1100" b="1" dirty="0">
                          <a:solidFill>
                            <a:srgbClr val="1A2332"/>
                          </a:solidFill>
                          <a:latin typeface="Calibri" pitchFamily="34" charset="0"/>
                          <a:ea typeface="Calibri" pitchFamily="34" charset="-122"/>
                          <a:cs typeface="Calibri" pitchFamily="34" charset="-120"/>
                        </a:rPr>
                        <a:t>III</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E8F1F8"/>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Journalists / influencers</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Editorial / personal</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2332"/>
                          </a:solidFill>
                          <a:latin typeface="Calibri" pitchFamily="34" charset="0"/>
                          <a:ea typeface="Calibri" pitchFamily="34" charset="-122"/>
                          <a:cs typeface="Calibri" pitchFamily="34" charset="-120"/>
                        </a:rPr>
                        <a:t>CNN, NBC, Bush, Cruz, Rogan</a:t>
                      </a:r>
                      <a:endParaRPr lang="en-US" sz="1100" dirty="0">
                        <a:latin typeface="Calibri" charset="0"/>
                        <a:ea typeface="Calibri" charset="0"/>
                        <a:cs typeface="Calibri" charset="0"/>
                      </a:endParaRPr>
                    </a:p>
                  </a:txBody>
                  <a:tcPr marL="91440" marR="91440" marT="45720" marB="45720">
                    <a:lnL w="6350" cap="flat" cmpd="sng" algn="ctr">
                      <a:solidFill>
                        <a:srgbClr val="1C7293"/>
                      </a:solidFill>
                      <a:prstDash val="solid"/>
                      <a:round/>
                      <a:headEnd type="none" w="med" len="med"/>
                      <a:tailEnd type="none" w="med" len="med"/>
                    </a:lnL>
                    <a:lnR w="6350" cap="flat" cmpd="sng" algn="ctr">
                      <a:solidFill>
                        <a:srgbClr val="1C7293"/>
                      </a:solidFill>
                      <a:prstDash val="solid"/>
                      <a:round/>
                      <a:headEnd type="none" w="med" len="med"/>
                      <a:tailEnd type="none" w="med" len="med"/>
                    </a:lnR>
                    <a:lnT w="6350" cap="flat" cmpd="sng" algn="ctr">
                      <a:solidFill>
                        <a:srgbClr val="1C7293"/>
                      </a:solidFill>
                      <a:prstDash val="solid"/>
                      <a:round/>
                      <a:headEnd type="none" w="med" len="med"/>
                      <a:tailEnd type="none" w="med" len="med"/>
                    </a:lnT>
                    <a:lnB w="6350" cap="flat" cmpd="sng" algn="ctr">
                      <a:solidFill>
                        <a:srgbClr val="1C7293"/>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3429000"/>
            <a:ext cx="8229600" cy="914400"/>
          </a:xfrm>
          <a:prstGeom prst="rect">
            <a:avLst/>
          </a:prstGeom>
          <a:noFill/>
          <a:ln/>
        </p:spPr>
        <p:txBody>
          <a:bodyPr wrap="square" lIns="0" tIns="0" rIns="0" bIns="0" rtlCol="0" anchor="ctr"/>
          <a:lstStyle/>
          <a:p>
            <a:pPr indent="0" marL="0">
              <a:buNone/>
            </a:pPr>
            <a:r>
              <a:rPr lang="en-US" sz="1200" b="1" dirty="0">
                <a:solidFill>
                  <a:srgbClr val="1A2332"/>
                </a:solidFill>
                <a:latin typeface="Calibri" pitchFamily="34" charset="0"/>
                <a:ea typeface="Calibri" pitchFamily="34" charset="-122"/>
                <a:cs typeface="Calibri" pitchFamily="34" charset="-120"/>
              </a:rPr>
              <a:t>Two analytic notes. </a:t>
            </a:r>
            <a:pPr indent="0" marL="0">
              <a:buNone/>
            </a:pPr>
            <a:r>
              <a:rPr lang="en-US" sz="1200" dirty="0">
                <a:solidFill>
                  <a:srgbClr val="1A2332"/>
                </a:solidFill>
                <a:latin typeface="Calibri" pitchFamily="34" charset="0"/>
                <a:ea typeface="Calibri" pitchFamily="34" charset="-122"/>
                <a:cs typeface="Calibri" pitchFamily="34" charset="-120"/>
              </a:rPr>
              <a:t>First, the tiers leak — Pratt reposts Tier II from his Tier I channels; Bush and Cruz are Tier III amplifying Tier II. Second, the tiers are functionally interdependent — the Batman ad needed Tier III amplification, and Tier III needed the Tier II artifact.</a:t>
            </a:r>
            <a:endParaRPr lang="en-US" sz="1200" dirty="0"/>
          </a:p>
        </p:txBody>
      </p:sp>
      <p:sp>
        <p:nvSpPr>
          <p:cNvPr id="6" name="Text 3"/>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7" name="Text 4"/>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8 / 13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1F8"/>
        </a:solidFill>
      </p:bgPr>
    </p:bg>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lIns="0" tIns="0" rIns="0" bIns="0" rtlCol="0" anchor="ctr"/>
          <a:lstStyle/>
          <a:p>
            <a:pPr indent="0" marL="0">
              <a:buNone/>
            </a:pPr>
            <a:r>
              <a:rPr lang="en-US" sz="1600" spc="300" kern="0" dirty="0">
                <a:solidFill>
                  <a:srgbClr val="1C7293"/>
                </a:solidFill>
                <a:latin typeface="Georgia" pitchFamily="34" charset="0"/>
                <a:ea typeface="Georgia" pitchFamily="34" charset="-122"/>
                <a:cs typeface="Georgia" pitchFamily="34" charset="-120"/>
              </a:rPr>
              <a:t>Implication 1</a:t>
            </a:r>
            <a:endParaRPr lang="en-US" sz="1600" dirty="0"/>
          </a:p>
        </p:txBody>
      </p:sp>
      <p:sp>
        <p:nvSpPr>
          <p:cNvPr id="3" name="Text 1"/>
          <p:cNvSpPr/>
          <p:nvPr/>
        </p:nvSpPr>
        <p:spPr>
          <a:xfrm>
            <a:off x="457200" y="914400"/>
            <a:ext cx="8229600" cy="914400"/>
          </a:xfrm>
          <a:prstGeom prst="rect">
            <a:avLst/>
          </a:prstGeom>
          <a:noFill/>
          <a:ln/>
        </p:spPr>
        <p:txBody>
          <a:bodyPr wrap="square" lIns="0" tIns="0" rIns="0" bIns="0" rtlCol="0" anchor="ctr"/>
          <a:lstStyle/>
          <a:p>
            <a:pPr indent="0" marL="0">
              <a:buNone/>
            </a:pPr>
            <a:r>
              <a:rPr lang="en-US" sz="2800" b="1" dirty="0">
                <a:solidFill>
                  <a:srgbClr val="0A2540"/>
                </a:solidFill>
                <a:latin typeface="Georgia" pitchFamily="34" charset="0"/>
                <a:ea typeface="Georgia" pitchFamily="34" charset="-122"/>
                <a:cs typeface="Georgia" pitchFamily="34" charset="-120"/>
              </a:rPr>
              <a:t>Production-cost asymmetry partially offsets resource asymmetry</a:t>
            </a:r>
            <a:endParaRPr lang="en-US" sz="2800" dirty="0"/>
          </a:p>
        </p:txBody>
      </p:sp>
      <p:sp>
        <p:nvSpPr>
          <p:cNvPr id="4" name="Shape 2"/>
          <p:cNvSpPr/>
          <p:nvPr/>
        </p:nvSpPr>
        <p:spPr>
          <a:xfrm>
            <a:off x="457200" y="1874520"/>
            <a:ext cx="1097280" cy="0"/>
          </a:xfrm>
          <a:prstGeom prst="line">
            <a:avLst/>
          </a:prstGeom>
          <a:noFill/>
          <a:ln w="25400">
            <a:solidFill>
              <a:srgbClr val="E07A5F"/>
            </a:solidFill>
            <a:prstDash val="solid"/>
          </a:ln>
        </p:spPr>
      </p:sp>
      <p:sp>
        <p:nvSpPr>
          <p:cNvPr id="5" name="Text 3"/>
          <p:cNvSpPr/>
          <p:nvPr/>
        </p:nvSpPr>
        <p:spPr>
          <a:xfrm>
            <a:off x="457200" y="2148840"/>
            <a:ext cx="8229600" cy="1097280"/>
          </a:xfrm>
          <a:prstGeom prst="rect">
            <a:avLst/>
          </a:prstGeom>
          <a:noFill/>
          <a:ln/>
        </p:spPr>
        <p:txBody>
          <a:bodyPr wrap="square" lIns="0" tIns="0" rIns="0" bIns="0" rtlCol="0" anchor="ctr"/>
          <a:lstStyle/>
          <a:p>
            <a:pPr indent="0" marL="0">
              <a:buNone/>
            </a:pPr>
            <a:r>
              <a:rPr lang="en-US" sz="1400" b="1" dirty="0">
                <a:solidFill>
                  <a:srgbClr val="1A2332"/>
                </a:solidFill>
                <a:latin typeface="Calibri" pitchFamily="34" charset="0"/>
                <a:ea typeface="Calibri" pitchFamily="34" charset="-122"/>
                <a:cs typeface="Calibri" pitchFamily="34" charset="-120"/>
              </a:rPr>
              <a:t>Bass retains the institutional money advantage </a:t>
            </a:r>
            <a:pPr indent="0" marL="0">
              <a:buNone/>
            </a:pPr>
            <a:r>
              <a:rPr lang="en-US" sz="1400" dirty="0">
                <a:solidFill>
                  <a:srgbClr val="1A2332"/>
                </a:solidFill>
                <a:latin typeface="Calibri" pitchFamily="34" charset="0"/>
                <a:ea typeface="Calibri" pitchFamily="34" charset="-122"/>
                <a:cs typeface="Calibri" pitchFamily="34" charset="-120"/>
              </a:rPr>
              <a:t>($2.3M cash on hand, the PAC support, the union endorsements). But supporter-generated AI media collapses the cost of producing memorable, broadcast-quality political video — changing the production-side terms on which the air war is fought.</a:t>
            </a:r>
            <a:endParaRPr lang="en-US" sz="1400" dirty="0"/>
          </a:p>
        </p:txBody>
      </p:sp>
      <p:sp>
        <p:nvSpPr>
          <p:cNvPr id="6" name="Shape 4"/>
          <p:cNvSpPr/>
          <p:nvPr/>
        </p:nvSpPr>
        <p:spPr>
          <a:xfrm>
            <a:off x="457200" y="3429000"/>
            <a:ext cx="8229600" cy="1005840"/>
          </a:xfrm>
          <a:prstGeom prst="rect">
            <a:avLst/>
          </a:prstGeom>
          <a:solidFill>
            <a:srgbClr val="0A2540"/>
          </a:solidFill>
          <a:ln w="12700">
            <a:solidFill>
              <a:srgbClr val="0A2540"/>
            </a:solidFill>
            <a:prstDash val="solid"/>
          </a:ln>
        </p:spPr>
      </p:sp>
      <p:sp>
        <p:nvSpPr>
          <p:cNvPr id="7" name="Text 5"/>
          <p:cNvSpPr/>
          <p:nvPr/>
        </p:nvSpPr>
        <p:spPr>
          <a:xfrm>
            <a:off x="640080" y="3520440"/>
            <a:ext cx="7863840" cy="822960"/>
          </a:xfrm>
          <a:prstGeom prst="rect">
            <a:avLst/>
          </a:prstGeom>
          <a:noFill/>
          <a:ln/>
        </p:spPr>
        <p:txBody>
          <a:bodyPr wrap="square" lIns="0" tIns="0" rIns="0" bIns="0" rtlCol="0" anchor="ctr"/>
          <a:lstStyle/>
          <a:p>
            <a:pPr indent="0" marL="0">
              <a:buNone/>
            </a:pPr>
            <a:r>
              <a:rPr lang="en-US" sz="1200" b="1" i="1" dirty="0">
                <a:solidFill>
                  <a:srgbClr val="E07A5F"/>
                </a:solidFill>
                <a:latin typeface="Calibri" pitchFamily="34" charset="0"/>
                <a:ea typeface="Calibri" pitchFamily="34" charset="-122"/>
                <a:cs typeface="Calibri" pitchFamily="34" charset="-120"/>
              </a:rPr>
              <a:t>Important qualifier. </a:t>
            </a:r>
            <a:pPr indent="0" marL="0">
              <a:buNone/>
            </a:pPr>
            <a:r>
              <a:rPr lang="en-US" sz="1200" i="1" dirty="0">
                <a:solidFill>
                  <a:srgbClr val="FFFFFF"/>
                </a:solidFill>
                <a:latin typeface="Calibri" pitchFamily="34" charset="0"/>
                <a:ea typeface="Calibri" pitchFamily="34" charset="-122"/>
                <a:cs typeface="Calibri" pitchFamily="34" charset="-120"/>
              </a:rPr>
              <a:t>The offset is partial. It does not address ground-game, institutional-endorsement, or donor-base advantages. Campaigns that substitute supporter-generated AI media for serious campaign infrastructure will not be served well by the substitution.</a:t>
            </a:r>
            <a:endParaRPr lang="en-US" sz="1200" dirty="0"/>
          </a:p>
        </p:txBody>
      </p:sp>
      <p:sp>
        <p:nvSpPr>
          <p:cNvPr id="8" name="Text 6"/>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9" name="Text 7"/>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9 / 13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1F8"/>
        </a:solidFill>
      </p:bgPr>
    </p:bg>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lIns="0" tIns="0" rIns="0" bIns="0" rtlCol="0" anchor="ctr"/>
          <a:lstStyle/>
          <a:p>
            <a:pPr indent="0" marL="0">
              <a:buNone/>
            </a:pPr>
            <a:r>
              <a:rPr lang="en-US" sz="1600" spc="300" kern="0" dirty="0">
                <a:solidFill>
                  <a:srgbClr val="1C7293"/>
                </a:solidFill>
                <a:latin typeface="Georgia" pitchFamily="34" charset="0"/>
                <a:ea typeface="Georgia" pitchFamily="34" charset="-122"/>
                <a:cs typeface="Georgia" pitchFamily="34" charset="-120"/>
              </a:rPr>
              <a:t>Implication 2</a:t>
            </a:r>
            <a:endParaRPr lang="en-US" sz="1600" dirty="0"/>
          </a:p>
        </p:txBody>
      </p:sp>
      <p:sp>
        <p:nvSpPr>
          <p:cNvPr id="3" name="Text 1"/>
          <p:cNvSpPr/>
          <p:nvPr/>
        </p:nvSpPr>
        <p:spPr>
          <a:xfrm>
            <a:off x="457200" y="914400"/>
            <a:ext cx="8229600" cy="914400"/>
          </a:xfrm>
          <a:prstGeom prst="rect">
            <a:avLst/>
          </a:prstGeom>
          <a:noFill/>
          <a:ln/>
        </p:spPr>
        <p:txBody>
          <a:bodyPr wrap="square" lIns="0" tIns="0" rIns="0" bIns="0" rtlCol="0" anchor="ctr"/>
          <a:lstStyle/>
          <a:p>
            <a:pPr indent="0" marL="0">
              <a:buNone/>
            </a:pPr>
            <a:r>
              <a:rPr lang="en-US" sz="2600" b="1" dirty="0">
                <a:solidFill>
                  <a:srgbClr val="0A2540"/>
                </a:solidFill>
                <a:latin typeface="Georgia" pitchFamily="34" charset="0"/>
                <a:ea typeface="Georgia" pitchFamily="34" charset="-122"/>
                <a:cs typeface="Georgia" pitchFamily="34" charset="-120"/>
              </a:rPr>
              <a:t>Production skill stratifies. Cultural fit is the characteristic vulnerability.</a:t>
            </a:r>
            <a:endParaRPr lang="en-US" sz="2600" dirty="0"/>
          </a:p>
        </p:txBody>
      </p:sp>
      <p:sp>
        <p:nvSpPr>
          <p:cNvPr id="4" name="Shape 2"/>
          <p:cNvSpPr/>
          <p:nvPr/>
        </p:nvSpPr>
        <p:spPr>
          <a:xfrm>
            <a:off x="457200" y="1920240"/>
            <a:ext cx="1097280" cy="0"/>
          </a:xfrm>
          <a:prstGeom prst="line">
            <a:avLst/>
          </a:prstGeom>
          <a:noFill/>
          <a:ln w="25400">
            <a:solidFill>
              <a:srgbClr val="E07A5F"/>
            </a:solidFill>
            <a:prstDash val="solid"/>
          </a:ln>
        </p:spPr>
      </p:sp>
      <p:sp>
        <p:nvSpPr>
          <p:cNvPr id="5" name="Shape 3"/>
          <p:cNvSpPr/>
          <p:nvPr/>
        </p:nvSpPr>
        <p:spPr>
          <a:xfrm>
            <a:off x="457200" y="2194560"/>
            <a:ext cx="4023360" cy="2377440"/>
          </a:xfrm>
          <a:prstGeom prst="rect">
            <a:avLst/>
          </a:prstGeom>
          <a:solidFill>
            <a:srgbClr val="FFFFFF"/>
          </a:solidFill>
          <a:ln w="12700">
            <a:solidFill>
              <a:srgbClr val="1C7293"/>
            </a:solidFill>
            <a:prstDash val="solid"/>
          </a:ln>
        </p:spPr>
      </p:sp>
      <p:sp>
        <p:nvSpPr>
          <p:cNvPr id="6" name="Shape 4"/>
          <p:cNvSpPr/>
          <p:nvPr/>
        </p:nvSpPr>
        <p:spPr>
          <a:xfrm>
            <a:off x="457200" y="2194560"/>
            <a:ext cx="4023360" cy="73152"/>
          </a:xfrm>
          <a:prstGeom prst="rect">
            <a:avLst/>
          </a:prstGeom>
          <a:solidFill>
            <a:srgbClr val="1C7293"/>
          </a:solidFill>
          <a:ln w="12700">
            <a:solidFill>
              <a:srgbClr val="1C7293"/>
            </a:solidFill>
            <a:prstDash val="solid"/>
          </a:ln>
        </p:spPr>
      </p:sp>
      <p:sp>
        <p:nvSpPr>
          <p:cNvPr id="7" name="Text 5"/>
          <p:cNvSpPr/>
          <p:nvPr/>
        </p:nvSpPr>
        <p:spPr>
          <a:xfrm>
            <a:off x="640080" y="2377440"/>
            <a:ext cx="3657600" cy="365760"/>
          </a:xfrm>
          <a:prstGeom prst="rect">
            <a:avLst/>
          </a:prstGeom>
          <a:noFill/>
          <a:ln/>
        </p:spPr>
        <p:txBody>
          <a:bodyPr wrap="square" lIns="0" tIns="0" rIns="0" bIns="0" rtlCol="0" anchor="ctr"/>
          <a:lstStyle/>
          <a:p>
            <a:pPr indent="0" marL="0">
              <a:buNone/>
            </a:pPr>
            <a:r>
              <a:rPr lang="en-US" sz="1600" b="1" dirty="0">
                <a:solidFill>
                  <a:srgbClr val="0A2540"/>
                </a:solidFill>
                <a:latin typeface="Georgia" pitchFamily="34" charset="0"/>
                <a:ea typeface="Georgia" pitchFamily="34" charset="-122"/>
                <a:cs typeface="Georgia" pitchFamily="34" charset="-120"/>
              </a:rPr>
              <a:t>Curran (Batman)</a:t>
            </a:r>
            <a:endParaRPr lang="en-US" sz="1600" dirty="0"/>
          </a:p>
        </p:txBody>
      </p:sp>
      <p:sp>
        <p:nvSpPr>
          <p:cNvPr id="8" name="Text 6"/>
          <p:cNvSpPr/>
          <p:nvPr/>
        </p:nvSpPr>
        <p:spPr>
          <a:xfrm>
            <a:off x="640080" y="2834640"/>
            <a:ext cx="3657600" cy="1645920"/>
          </a:xfrm>
          <a:prstGeom prst="rect">
            <a:avLst/>
          </a:prstGeom>
          <a:noFill/>
          <a:ln/>
        </p:spPr>
        <p:txBody>
          <a:bodyPr wrap="square" rtlCol="0" anchor="ctr"/>
          <a:lstStyle/>
          <a:p>
            <a:pPr marL="342900" indent="-342900">
              <a:spcAft>
                <a:spcPts val="300"/>
              </a:spcAft>
              <a:buSzPct val="100000"/>
              <a:buChar char="•"/>
            </a:pPr>
            <a:r>
              <a:rPr lang="en-US" sz="1200" dirty="0">
                <a:solidFill>
                  <a:srgbClr val="1A2332"/>
                </a:solidFill>
                <a:latin typeface="Calibri" pitchFamily="34" charset="0"/>
                <a:ea typeface="Calibri" pitchFamily="34" charset="-122"/>
                <a:cs typeface="Calibri" pitchFamily="34" charset="-120"/>
              </a:rPr>
              <a:t>Commercial filmmaking veteran</a:t>
            </a:r>
            <a:endParaRPr lang="en-US" sz="1200" dirty="0"/>
          </a:p>
          <a:p>
            <a:pPr marL="342900" indent="-342900">
              <a:spcAft>
                <a:spcPts val="300"/>
              </a:spcAft>
              <a:buSzPct val="100000"/>
              <a:buChar char="•"/>
            </a:pPr>
            <a:r>
              <a:rPr lang="en-US" sz="1200" dirty="0">
                <a:solidFill>
                  <a:srgbClr val="1A2332"/>
                </a:solidFill>
                <a:latin typeface="Calibri" pitchFamily="34" charset="0"/>
                <a:ea typeface="Calibri" pitchFamily="34" charset="-122"/>
                <a:cs typeface="Calibri" pitchFamily="34" charset="-120"/>
              </a:rPr>
              <a:t>LA-based, 4-person studio</a:t>
            </a:r>
            <a:endParaRPr lang="en-US" sz="1200" dirty="0"/>
          </a:p>
          <a:p>
            <a:pPr marL="342900" indent="-342900">
              <a:spcAft>
                <a:spcPts val="300"/>
              </a:spcAft>
              <a:buSzPct val="100000"/>
              <a:buChar char="•"/>
            </a:pPr>
            <a:r>
              <a:rPr lang="en-US" sz="1200" dirty="0">
                <a:solidFill>
                  <a:srgbClr val="1A2332"/>
                </a:solidFill>
                <a:latin typeface="Calibri" pitchFamily="34" charset="0"/>
                <a:ea typeface="Calibri" pitchFamily="34" charset="-122"/>
                <a:cs typeface="Calibri" pitchFamily="34" charset="-120"/>
              </a:rPr>
              <a:t>Producing for community he belongs to</a:t>
            </a:r>
            <a:endParaRPr lang="en-US" sz="1200" dirty="0"/>
          </a:p>
          <a:p>
            <a:pPr marL="342900" indent="-342900">
              <a:spcAft>
                <a:spcPts val="300"/>
              </a:spcAft>
              <a:buSzPct val="100000"/>
              <a:buChar char="•"/>
            </a:pPr>
            <a:r>
              <a:rPr lang="en-US" sz="1200" dirty="0">
                <a:solidFill>
                  <a:srgbClr val="1A2332"/>
                </a:solidFill>
                <a:latin typeface="Calibri" pitchFamily="34" charset="0"/>
                <a:ea typeface="Calibri" pitchFamily="34" charset="-122"/>
                <a:cs typeface="Calibri" pitchFamily="34" charset="-120"/>
              </a:rPr>
              <a:t>Cinematically deliberate, culturally fluent</a:t>
            </a:r>
            <a:endParaRPr lang="en-US" sz="1200" dirty="0"/>
          </a:p>
        </p:txBody>
      </p:sp>
      <p:sp>
        <p:nvSpPr>
          <p:cNvPr id="9" name="Shape 7"/>
          <p:cNvSpPr/>
          <p:nvPr/>
        </p:nvSpPr>
        <p:spPr>
          <a:xfrm>
            <a:off x="4663440" y="2194560"/>
            <a:ext cx="4023360" cy="2377440"/>
          </a:xfrm>
          <a:prstGeom prst="rect">
            <a:avLst/>
          </a:prstGeom>
          <a:solidFill>
            <a:srgbClr val="FFFFFF"/>
          </a:solidFill>
          <a:ln w="12700">
            <a:solidFill>
              <a:srgbClr val="E07A5F"/>
            </a:solidFill>
            <a:prstDash val="solid"/>
          </a:ln>
        </p:spPr>
      </p:sp>
      <p:sp>
        <p:nvSpPr>
          <p:cNvPr id="10" name="Shape 8"/>
          <p:cNvSpPr/>
          <p:nvPr/>
        </p:nvSpPr>
        <p:spPr>
          <a:xfrm>
            <a:off x="4663440" y="2194560"/>
            <a:ext cx="4023360" cy="73152"/>
          </a:xfrm>
          <a:prstGeom prst="rect">
            <a:avLst/>
          </a:prstGeom>
          <a:solidFill>
            <a:srgbClr val="E07A5F"/>
          </a:solidFill>
          <a:ln w="12700">
            <a:solidFill>
              <a:srgbClr val="E07A5F"/>
            </a:solidFill>
            <a:prstDash val="solid"/>
          </a:ln>
        </p:spPr>
      </p:sp>
      <p:sp>
        <p:nvSpPr>
          <p:cNvPr id="11" name="Text 9"/>
          <p:cNvSpPr/>
          <p:nvPr/>
        </p:nvSpPr>
        <p:spPr>
          <a:xfrm>
            <a:off x="4846320" y="2377440"/>
            <a:ext cx="3657600" cy="365760"/>
          </a:xfrm>
          <a:prstGeom prst="rect">
            <a:avLst/>
          </a:prstGeom>
          <a:noFill/>
          <a:ln/>
        </p:spPr>
        <p:txBody>
          <a:bodyPr wrap="square" lIns="0" tIns="0" rIns="0" bIns="0" rtlCol="0" anchor="ctr"/>
          <a:lstStyle/>
          <a:p>
            <a:pPr indent="0" marL="0">
              <a:buNone/>
            </a:pPr>
            <a:r>
              <a:rPr lang="en-US" sz="1600" b="1" dirty="0">
                <a:solidFill>
                  <a:srgbClr val="0A2540"/>
                </a:solidFill>
                <a:latin typeface="Georgia" pitchFamily="34" charset="0"/>
                <a:ea typeface="Georgia" pitchFamily="34" charset="-122"/>
                <a:cs typeface="Georgia" pitchFamily="34" charset="-120"/>
              </a:rPr>
              <a:t>Alvarez (Saca La Bassura)</a:t>
            </a:r>
            <a:endParaRPr lang="en-US" sz="1600" dirty="0"/>
          </a:p>
        </p:txBody>
      </p:sp>
      <p:sp>
        <p:nvSpPr>
          <p:cNvPr id="12" name="Text 10"/>
          <p:cNvSpPr/>
          <p:nvPr/>
        </p:nvSpPr>
        <p:spPr>
          <a:xfrm>
            <a:off x="4846320" y="2834640"/>
            <a:ext cx="3657600" cy="1645920"/>
          </a:xfrm>
          <a:prstGeom prst="rect">
            <a:avLst/>
          </a:prstGeom>
          <a:noFill/>
          <a:ln/>
        </p:spPr>
        <p:txBody>
          <a:bodyPr wrap="square" rtlCol="0" anchor="ctr"/>
          <a:lstStyle/>
          <a:p>
            <a:pPr marL="342900" indent="-342900">
              <a:spcAft>
                <a:spcPts val="300"/>
              </a:spcAft>
              <a:buSzPct val="100000"/>
              <a:buChar char="•"/>
            </a:pPr>
            <a:r>
              <a:rPr lang="en-US" sz="1200" dirty="0">
                <a:solidFill>
                  <a:srgbClr val="1A2332"/>
                </a:solidFill>
                <a:latin typeface="Calibri" pitchFamily="34" charset="0"/>
                <a:ea typeface="Calibri" pitchFamily="34" charset="-122"/>
                <a:cs typeface="Calibri" pitchFamily="34" charset="-120"/>
              </a:rPr>
              <a:t>Working alone (per reporting)</a:t>
            </a:r>
            <a:endParaRPr lang="en-US" sz="1200" dirty="0"/>
          </a:p>
          <a:p>
            <a:pPr marL="342900" indent="-342900">
              <a:spcAft>
                <a:spcPts val="300"/>
              </a:spcAft>
              <a:buSzPct val="100000"/>
              <a:buChar char="•"/>
            </a:pPr>
            <a:r>
              <a:rPr lang="en-US" sz="1200" dirty="0">
                <a:solidFill>
                  <a:srgbClr val="1A2332"/>
                </a:solidFill>
                <a:latin typeface="Calibri" pitchFamily="34" charset="0"/>
                <a:ea typeface="Calibri" pitchFamily="34" charset="-122"/>
                <a:cs typeface="Calibri" pitchFamily="34" charset="-120"/>
              </a:rPr>
              <a:t>Cuban-American, splits time Miami/LA</a:t>
            </a:r>
            <a:endParaRPr lang="en-US" sz="1200" dirty="0"/>
          </a:p>
          <a:p>
            <a:pPr marL="342900" indent="-342900">
              <a:spcAft>
                <a:spcPts val="300"/>
              </a:spcAft>
              <a:buSzPct val="100000"/>
              <a:buChar char="•"/>
            </a:pPr>
            <a:r>
              <a:rPr lang="en-US" sz="1200" dirty="0">
                <a:solidFill>
                  <a:srgbClr val="1A2332"/>
                </a:solidFill>
                <a:latin typeface="Calibri" pitchFamily="34" charset="0"/>
                <a:ea typeface="Calibri" pitchFamily="34" charset="-122"/>
                <a:cs typeface="Calibri" pitchFamily="34" charset="-120"/>
              </a:rPr>
              <a:t>Producing for community he doesn't belong to</a:t>
            </a:r>
            <a:endParaRPr lang="en-US" sz="1200" dirty="0"/>
          </a:p>
          <a:p>
            <a:pPr marL="342900" indent="-342900">
              <a:spcAft>
                <a:spcPts val="300"/>
              </a:spcAft>
              <a:buSzPct val="100000"/>
              <a:buChar char="•"/>
            </a:pPr>
            <a:r>
              <a:rPr lang="en-US" sz="1200" dirty="0">
                <a:solidFill>
                  <a:srgbClr val="1A2332"/>
                </a:solidFill>
                <a:latin typeface="Calibri" pitchFamily="34" charset="0"/>
                <a:ea typeface="Calibri" pitchFamily="34" charset="-122"/>
                <a:cs typeface="Calibri" pitchFamily="34" charset="-120"/>
              </a:rPr>
              <a:t>Arellano (LA Times): salsa where corrido fits</a:t>
            </a:r>
            <a:endParaRPr lang="en-US" sz="1200" dirty="0"/>
          </a:p>
        </p:txBody>
      </p:sp>
      <p:sp>
        <p:nvSpPr>
          <p:cNvPr id="13" name="Text 11"/>
          <p:cNvSpPr/>
          <p:nvPr/>
        </p:nvSpPr>
        <p:spPr>
          <a:xfrm>
            <a:off x="457200" y="4617720"/>
            <a:ext cx="8229600" cy="228600"/>
          </a:xfrm>
          <a:prstGeom prst="rect">
            <a:avLst/>
          </a:prstGeom>
          <a:noFill/>
          <a:ln/>
        </p:spPr>
        <p:txBody>
          <a:bodyPr wrap="square" lIns="0" tIns="0" rIns="0" bIns="0" rtlCol="0" anchor="ctr"/>
          <a:lstStyle/>
          <a:p>
            <a:pPr algn="ctr" indent="0" marL="0">
              <a:buNone/>
            </a:pPr>
            <a:r>
              <a:rPr lang="en-US" sz="1100" i="1" dirty="0">
                <a:solidFill>
                  <a:srgbClr val="1C7293"/>
                </a:solidFill>
                <a:latin typeface="Calibri" pitchFamily="34" charset="0"/>
                <a:ea typeface="Calibri" pitchFamily="34" charset="-122"/>
                <a:cs typeface="Calibri" pitchFamily="34" charset="-120"/>
              </a:rPr>
              <a:t>GenAI lowers the cost of producing culturally targeted content — not the cost of knowing which will resonate.</a:t>
            </a:r>
            <a:endParaRPr lang="en-US" sz="1100" dirty="0"/>
          </a:p>
        </p:txBody>
      </p:sp>
      <p:sp>
        <p:nvSpPr>
          <p:cNvPr id="14" name="Text 12"/>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15" name="Text 13"/>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10 / 13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1F8"/>
        </a:solidFill>
      </p:bgPr>
    </p:bg>
    <p:spTree>
      <p:nvGrpSpPr>
        <p:cNvPr id="1" name=""/>
        <p:cNvGrpSpPr/>
        <p:nvPr/>
      </p:nvGrpSpPr>
      <p:grpSpPr>
        <a:xfrm>
          <a:off x="0" y="0"/>
          <a:ext cx="0" cy="0"/>
          <a:chOff x="0" y="0"/>
          <a:chExt cx="0" cy="0"/>
        </a:xfrm>
      </p:grpSpPr>
      <p:sp>
        <p:nvSpPr>
          <p:cNvPr id="2" name="Text 0"/>
          <p:cNvSpPr/>
          <p:nvPr/>
        </p:nvSpPr>
        <p:spPr>
          <a:xfrm>
            <a:off x="457200" y="457200"/>
            <a:ext cx="8229600" cy="457200"/>
          </a:xfrm>
          <a:prstGeom prst="rect">
            <a:avLst/>
          </a:prstGeom>
          <a:noFill/>
          <a:ln/>
        </p:spPr>
        <p:txBody>
          <a:bodyPr wrap="square" lIns="0" tIns="0" rIns="0" bIns="0" rtlCol="0" anchor="ctr"/>
          <a:lstStyle/>
          <a:p>
            <a:pPr indent="0" marL="0">
              <a:buNone/>
            </a:pPr>
            <a:r>
              <a:rPr lang="en-US" sz="1600" spc="300" kern="0" dirty="0">
                <a:solidFill>
                  <a:srgbClr val="1C7293"/>
                </a:solidFill>
                <a:latin typeface="Georgia" pitchFamily="34" charset="0"/>
                <a:ea typeface="Georgia" pitchFamily="34" charset="-122"/>
                <a:cs typeface="Georgia" pitchFamily="34" charset="-120"/>
              </a:rPr>
              <a:t>Implication 3</a:t>
            </a:r>
            <a:endParaRPr lang="en-US" sz="1600" dirty="0"/>
          </a:p>
        </p:txBody>
      </p:sp>
      <p:sp>
        <p:nvSpPr>
          <p:cNvPr id="3" name="Text 1"/>
          <p:cNvSpPr/>
          <p:nvPr/>
        </p:nvSpPr>
        <p:spPr>
          <a:xfrm>
            <a:off x="457200" y="914400"/>
            <a:ext cx="8229600" cy="731520"/>
          </a:xfrm>
          <a:prstGeom prst="rect">
            <a:avLst/>
          </a:prstGeom>
          <a:noFill/>
          <a:ln/>
        </p:spPr>
        <p:txBody>
          <a:bodyPr wrap="square" lIns="0" tIns="0" rIns="0" bIns="0" rtlCol="0" anchor="ctr"/>
          <a:lstStyle/>
          <a:p>
            <a:pPr indent="0" marL="0">
              <a:buNone/>
            </a:pPr>
            <a:r>
              <a:rPr lang="en-US" sz="3000" b="1" dirty="0">
                <a:solidFill>
                  <a:srgbClr val="0A2540"/>
                </a:solidFill>
                <a:latin typeface="Georgia" pitchFamily="34" charset="0"/>
                <a:ea typeface="Georgia" pitchFamily="34" charset="-122"/>
                <a:cs typeface="Georgia" pitchFamily="34" charset="-120"/>
              </a:rPr>
              <a:t>Attributable, but deniable.</a:t>
            </a:r>
            <a:endParaRPr lang="en-US" sz="3000" dirty="0"/>
          </a:p>
        </p:txBody>
      </p:sp>
      <p:sp>
        <p:nvSpPr>
          <p:cNvPr id="4" name="Shape 2"/>
          <p:cNvSpPr/>
          <p:nvPr/>
        </p:nvSpPr>
        <p:spPr>
          <a:xfrm>
            <a:off x="457200" y="1691640"/>
            <a:ext cx="1097280" cy="0"/>
          </a:xfrm>
          <a:prstGeom prst="line">
            <a:avLst/>
          </a:prstGeom>
          <a:noFill/>
          <a:ln w="25400">
            <a:solidFill>
              <a:srgbClr val="E07A5F"/>
            </a:solidFill>
            <a:prstDash val="solid"/>
          </a:ln>
        </p:spPr>
      </p:sp>
      <p:sp>
        <p:nvSpPr>
          <p:cNvPr id="5" name="Text 3"/>
          <p:cNvSpPr/>
          <p:nvPr/>
        </p:nvSpPr>
        <p:spPr>
          <a:xfrm>
            <a:off x="457200" y="1965960"/>
            <a:ext cx="8229600" cy="1463040"/>
          </a:xfrm>
          <a:prstGeom prst="rect">
            <a:avLst/>
          </a:prstGeom>
          <a:noFill/>
          <a:ln/>
        </p:spPr>
        <p:txBody>
          <a:bodyPr wrap="square" rtlCol="0" anchor="ctr"/>
          <a:lstStyle/>
          <a:p>
            <a:pPr indent="0" marL="0">
              <a:buNone/>
            </a:pPr>
            <a:r>
              <a:rPr lang="en-US" sz="1300" b="1" dirty="0">
                <a:solidFill>
                  <a:srgbClr val="1A2332"/>
                </a:solidFill>
                <a:latin typeface="Calibri" pitchFamily="34" charset="0"/>
                <a:ea typeface="Calibri" pitchFamily="34" charset="-122"/>
                <a:cs typeface="Calibri" pitchFamily="34" charset="-120"/>
              </a:rPr>
              <a:t>Bass on CNN: </a:t>
            </a:r>
            <a:endParaRPr lang="en-US" sz="1300" dirty="0"/>
          </a:p>
          <a:p>
            <a:pPr indent="0" marL="0">
              <a:buNone/>
            </a:pPr>
            <a:r>
              <a:rPr lang="en-US" sz="1300" i="1" dirty="0">
                <a:solidFill>
                  <a:srgbClr val="1A2332"/>
                </a:solidFill>
                <a:latin typeface="Calibri" pitchFamily="34" charset="0"/>
                <a:ea typeface="Calibri" pitchFamily="34" charset="-122"/>
                <a:cs typeface="Calibri" pitchFamily="34" charset="-120"/>
              </a:rPr>
              <a:t>“a very dangerous trend” — citing a clip of her and Newsom drowning in a reservoir.</a:t>
            </a:r>
            <a:endParaRPr lang="en-US" sz="1300" dirty="0"/>
          </a:p>
          <a:p>
            <a:pPr indent="0" marL="0">
              <a:buNone/>
            </a:pPr>
            <a:r>
              <a:rPr lang="en-US" sz="600" dirty="0">
                <a:solidFill>
                  <a:srgbClr val="1A2332"/>
                </a:solidFill>
                <a:latin typeface="Calibri" pitchFamily="34" charset="0"/>
                <a:ea typeface="Calibri" pitchFamily="34" charset="-122"/>
                <a:cs typeface="Calibri" pitchFamily="34" charset="-120"/>
              </a:rPr>
              <a:t> </a:t>
            </a:r>
            <a:endParaRPr lang="en-US" sz="1300" dirty="0"/>
          </a:p>
          <a:p>
            <a:pPr indent="0" marL="0">
              <a:buNone/>
            </a:pPr>
            <a:r>
              <a:rPr lang="en-US" sz="1300" b="1" dirty="0">
                <a:solidFill>
                  <a:srgbClr val="1A2332"/>
                </a:solidFill>
                <a:latin typeface="Calibri" pitchFamily="34" charset="0"/>
                <a:ea typeface="Calibri" pitchFamily="34" charset="-122"/>
                <a:cs typeface="Calibri" pitchFamily="34" charset="-120"/>
              </a:rPr>
              <a:t>Pratt's framing: </a:t>
            </a:r>
            <a:endParaRPr lang="en-US" sz="1300" dirty="0"/>
          </a:p>
          <a:p>
            <a:pPr indent="0" marL="0">
              <a:buNone/>
            </a:pPr>
            <a:r>
              <a:rPr lang="en-US" sz="1300" i="1" dirty="0">
                <a:solidFill>
                  <a:srgbClr val="1A2332"/>
                </a:solidFill>
                <a:latin typeface="Calibri" pitchFamily="34" charset="0"/>
                <a:ea typeface="Calibri" pitchFamily="34" charset="-122"/>
                <a:cs typeface="Calibri" pitchFamily="34" charset="-120"/>
              </a:rPr>
              <a:t>“fan-made” (in a since-deleted Instagram clip, per NPR).</a:t>
            </a:r>
            <a:endParaRPr lang="en-US" sz="1300" dirty="0"/>
          </a:p>
        </p:txBody>
      </p:sp>
      <p:sp>
        <p:nvSpPr>
          <p:cNvPr id="6" name="Shape 4"/>
          <p:cNvSpPr/>
          <p:nvPr/>
        </p:nvSpPr>
        <p:spPr>
          <a:xfrm>
            <a:off x="457200" y="3611880"/>
            <a:ext cx="8229600" cy="1005840"/>
          </a:xfrm>
          <a:prstGeom prst="rect">
            <a:avLst/>
          </a:prstGeom>
          <a:solidFill>
            <a:srgbClr val="0A2540"/>
          </a:solidFill>
          <a:ln w="12700">
            <a:solidFill>
              <a:srgbClr val="0A2540"/>
            </a:solidFill>
            <a:prstDash val="solid"/>
          </a:ln>
        </p:spPr>
      </p:sp>
      <p:sp>
        <p:nvSpPr>
          <p:cNvPr id="7" name="Text 5"/>
          <p:cNvSpPr/>
          <p:nvPr/>
        </p:nvSpPr>
        <p:spPr>
          <a:xfrm>
            <a:off x="640080" y="3703320"/>
            <a:ext cx="7863840" cy="822960"/>
          </a:xfrm>
          <a:prstGeom prst="rect">
            <a:avLst/>
          </a:prstGeom>
          <a:noFill/>
          <a:ln/>
        </p:spPr>
        <p:txBody>
          <a:bodyPr wrap="square" lIns="0" tIns="0" rIns="0" bIns="0" rtlCol="0" anchor="ctr"/>
          <a:lstStyle/>
          <a:p>
            <a:pPr indent="0" marL="0">
              <a:buNone/>
            </a:pPr>
            <a:r>
              <a:rPr lang="en-US" sz="1200" b="1" dirty="0">
                <a:solidFill>
                  <a:srgbClr val="E07A5F"/>
                </a:solidFill>
                <a:latin typeface="Calibri" pitchFamily="34" charset="0"/>
                <a:ea typeface="Calibri" pitchFamily="34" charset="-122"/>
                <a:cs typeface="Calibri" pitchFamily="34" charset="-120"/>
              </a:rPr>
              <a:t>The structural problem. </a:t>
            </a:r>
            <a:pPr indent="0" marL="0">
              <a:buNone/>
            </a:pPr>
            <a:r>
              <a:rPr lang="en-US" sz="1200" dirty="0">
                <a:solidFill>
                  <a:srgbClr val="FFFFFF"/>
                </a:solidFill>
                <a:latin typeface="Calibri" pitchFamily="34" charset="0"/>
                <a:ea typeface="Calibri" pitchFamily="34" charset="-122"/>
                <a:cs typeface="Calibri" pitchFamily="34" charset="-120"/>
              </a:rPr>
              <a:t>The supporter is real. The content is not formally campaign content. The campaign has plausible deniability. And the candidate benefits from the reach. The field needs methodological and conceptual tools for </a:t>
            </a:r>
            <a:pPr indent="0" marL="0">
              <a:buNone/>
            </a:pPr>
            <a:r>
              <a:rPr lang="en-US" sz="1200" b="1" i="1" dirty="0">
                <a:solidFill>
                  <a:srgbClr val="FFFFFF"/>
                </a:solidFill>
                <a:latin typeface="Calibri" pitchFamily="34" charset="0"/>
                <a:ea typeface="Calibri" pitchFamily="34" charset="-122"/>
                <a:cs typeface="Calibri" pitchFamily="34" charset="-120"/>
              </a:rPr>
              <a:t>amplification-as-authorship.</a:t>
            </a:r>
            <a:endParaRPr lang="en-US" sz="1200" dirty="0"/>
          </a:p>
        </p:txBody>
      </p:sp>
      <p:sp>
        <p:nvSpPr>
          <p:cNvPr id="8" name="Text 6"/>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9" name="Text 7"/>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11 / 13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2540"/>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Forward to 2028</a:t>
            </a:r>
            <a:endParaRPr lang="en-US" sz="3200" dirty="0"/>
          </a:p>
        </p:txBody>
      </p:sp>
      <p:sp>
        <p:nvSpPr>
          <p:cNvPr id="3" name="Text 1"/>
          <p:cNvSpPr/>
          <p:nvPr/>
        </p:nvSpPr>
        <p:spPr>
          <a:xfrm>
            <a:off x="457200" y="1051560"/>
            <a:ext cx="8229600" cy="365760"/>
          </a:xfrm>
          <a:prstGeom prst="rect">
            <a:avLst/>
          </a:prstGeom>
          <a:noFill/>
          <a:ln/>
        </p:spPr>
        <p:txBody>
          <a:bodyPr wrap="square" lIns="0" tIns="0" rIns="0" bIns="0" rtlCol="0" anchor="ctr"/>
          <a:lstStyle/>
          <a:p>
            <a:pPr indent="0" marL="0">
              <a:buNone/>
            </a:pPr>
            <a:r>
              <a:rPr lang="en-US" sz="1400" i="1" dirty="0">
                <a:solidFill>
                  <a:srgbClr val="E8F1F8"/>
                </a:solidFill>
                <a:latin typeface="Georgia" pitchFamily="34" charset="0"/>
                <a:ea typeface="Georgia" pitchFamily="34" charset="-122"/>
                <a:cs typeface="Georgia" pitchFamily="34" charset="-120"/>
              </a:rPr>
              <a:t>Six likely emergent patterns — framed as patterns, not forecasts</a:t>
            </a:r>
            <a:endParaRPr lang="en-US" sz="1400" dirty="0"/>
          </a:p>
        </p:txBody>
      </p:sp>
      <p:sp>
        <p:nvSpPr>
          <p:cNvPr id="4" name="Shape 2"/>
          <p:cNvSpPr/>
          <p:nvPr/>
        </p:nvSpPr>
        <p:spPr>
          <a:xfrm>
            <a:off x="457200" y="1600200"/>
            <a:ext cx="2679192" cy="1371600"/>
          </a:xfrm>
          <a:prstGeom prst="rect">
            <a:avLst/>
          </a:prstGeom>
          <a:solidFill>
            <a:srgbClr val="FFFFFF"/>
          </a:solidFill>
          <a:ln w="12700">
            <a:solidFill>
              <a:srgbClr val="FFFFFF"/>
            </a:solidFill>
            <a:prstDash val="solid"/>
          </a:ln>
        </p:spPr>
      </p:sp>
      <p:sp>
        <p:nvSpPr>
          <p:cNvPr id="5" name="Shape 3"/>
          <p:cNvSpPr/>
          <p:nvPr/>
        </p:nvSpPr>
        <p:spPr>
          <a:xfrm>
            <a:off x="457200" y="1600200"/>
            <a:ext cx="73152" cy="1371600"/>
          </a:xfrm>
          <a:prstGeom prst="rect">
            <a:avLst/>
          </a:prstGeom>
          <a:solidFill>
            <a:srgbClr val="E07A5F"/>
          </a:solidFill>
          <a:ln w="12700">
            <a:solidFill>
              <a:srgbClr val="E07A5F"/>
            </a:solidFill>
            <a:prstDash val="solid"/>
          </a:ln>
        </p:spPr>
      </p:sp>
      <p:sp>
        <p:nvSpPr>
          <p:cNvPr id="6" name="Text 4"/>
          <p:cNvSpPr/>
          <p:nvPr/>
        </p:nvSpPr>
        <p:spPr>
          <a:xfrm>
            <a:off x="640080" y="1691640"/>
            <a:ext cx="365760" cy="274320"/>
          </a:xfrm>
          <a:prstGeom prst="rect">
            <a:avLst/>
          </a:prstGeom>
          <a:noFill/>
          <a:ln/>
        </p:spPr>
        <p:txBody>
          <a:bodyPr wrap="square" lIns="0" tIns="0" rIns="0" bIns="0" rtlCol="0" anchor="ctr"/>
          <a:lstStyle/>
          <a:p>
            <a:pPr indent="0" marL="0">
              <a:buNone/>
            </a:pPr>
            <a:r>
              <a:rPr lang="en-US" sz="1600" b="1" dirty="0">
                <a:solidFill>
                  <a:srgbClr val="E07A5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640080" y="1920240"/>
            <a:ext cx="2404872" cy="365760"/>
          </a:xfrm>
          <a:prstGeom prst="rect">
            <a:avLst/>
          </a:prstGeom>
          <a:noFill/>
          <a:ln/>
        </p:spPr>
        <p:txBody>
          <a:bodyPr wrap="square" lIns="0" tIns="0" rIns="0" bIns="0" rtlCol="0" anchor="ctr"/>
          <a:lstStyle/>
          <a:p>
            <a:pPr indent="0" marL="0">
              <a:buNone/>
            </a:pPr>
            <a:r>
              <a:rPr lang="en-US" sz="1300" b="1" dirty="0">
                <a:solidFill>
                  <a:srgbClr val="0A2540"/>
                </a:solidFill>
                <a:latin typeface="Georgia" pitchFamily="34" charset="0"/>
                <a:ea typeface="Georgia" pitchFamily="34" charset="-122"/>
                <a:cs typeface="Georgia" pitchFamily="34" charset="-120"/>
              </a:rPr>
              <a:t>Tool capability improves</a:t>
            </a:r>
            <a:endParaRPr lang="en-US" sz="1300" dirty="0"/>
          </a:p>
        </p:txBody>
      </p:sp>
      <p:sp>
        <p:nvSpPr>
          <p:cNvPr id="8" name="Text 6"/>
          <p:cNvSpPr/>
          <p:nvPr/>
        </p:nvSpPr>
        <p:spPr>
          <a:xfrm>
            <a:off x="640080" y="2286000"/>
            <a:ext cx="2404872" cy="640080"/>
          </a:xfrm>
          <a:prstGeom prst="rect">
            <a:avLst/>
          </a:prstGeom>
          <a:noFill/>
          <a:ln/>
        </p:spPr>
        <p:txBody>
          <a:bodyPr wrap="square" lIns="0" tIns="0" rIns="0" bIns="0" rtlCol="0" anchor="ctr"/>
          <a:lstStyle/>
          <a:p>
            <a:pPr indent="0" marL="0">
              <a:buNone/>
            </a:pPr>
            <a:r>
              <a:rPr lang="en-US" sz="1000" dirty="0">
                <a:solidFill>
                  <a:srgbClr val="1A2332"/>
                </a:solidFill>
                <a:latin typeface="Calibri" pitchFamily="34" charset="0"/>
                <a:ea typeface="Calibri" pitchFamily="34" charset="-122"/>
                <a:cs typeface="Calibri" pitchFamily="34" charset="-120"/>
              </a:rPr>
              <a:t>Supplier population at Tier II grows from a handful to dozens or hundreds per campaign.</a:t>
            </a:r>
            <a:endParaRPr lang="en-US" sz="1000" dirty="0"/>
          </a:p>
        </p:txBody>
      </p:sp>
      <p:sp>
        <p:nvSpPr>
          <p:cNvPr id="9" name="Shape 7"/>
          <p:cNvSpPr/>
          <p:nvPr/>
        </p:nvSpPr>
        <p:spPr>
          <a:xfrm>
            <a:off x="3246120" y="1600200"/>
            <a:ext cx="2679192" cy="1371600"/>
          </a:xfrm>
          <a:prstGeom prst="rect">
            <a:avLst/>
          </a:prstGeom>
          <a:solidFill>
            <a:srgbClr val="FFFFFF"/>
          </a:solidFill>
          <a:ln w="12700">
            <a:solidFill>
              <a:srgbClr val="FFFFFF"/>
            </a:solidFill>
            <a:prstDash val="solid"/>
          </a:ln>
        </p:spPr>
      </p:sp>
      <p:sp>
        <p:nvSpPr>
          <p:cNvPr id="10" name="Shape 8"/>
          <p:cNvSpPr/>
          <p:nvPr/>
        </p:nvSpPr>
        <p:spPr>
          <a:xfrm>
            <a:off x="3246120" y="1600200"/>
            <a:ext cx="73152" cy="1371600"/>
          </a:xfrm>
          <a:prstGeom prst="rect">
            <a:avLst/>
          </a:prstGeom>
          <a:solidFill>
            <a:srgbClr val="E07A5F"/>
          </a:solidFill>
          <a:ln w="12700">
            <a:solidFill>
              <a:srgbClr val="E07A5F"/>
            </a:solidFill>
            <a:prstDash val="solid"/>
          </a:ln>
        </p:spPr>
      </p:sp>
      <p:sp>
        <p:nvSpPr>
          <p:cNvPr id="11" name="Text 9"/>
          <p:cNvSpPr/>
          <p:nvPr/>
        </p:nvSpPr>
        <p:spPr>
          <a:xfrm>
            <a:off x="3429000" y="1691640"/>
            <a:ext cx="365760" cy="274320"/>
          </a:xfrm>
          <a:prstGeom prst="rect">
            <a:avLst/>
          </a:prstGeom>
          <a:noFill/>
          <a:ln/>
        </p:spPr>
        <p:txBody>
          <a:bodyPr wrap="square" lIns="0" tIns="0" rIns="0" bIns="0" rtlCol="0" anchor="ctr"/>
          <a:lstStyle/>
          <a:p>
            <a:pPr indent="0" marL="0">
              <a:buNone/>
            </a:pPr>
            <a:r>
              <a:rPr lang="en-US" sz="1600" b="1" dirty="0">
                <a:solidFill>
                  <a:srgbClr val="E07A5F"/>
                </a:solidFill>
                <a:latin typeface="Georgia" pitchFamily="34" charset="0"/>
                <a:ea typeface="Georgia" pitchFamily="34" charset="-122"/>
                <a:cs typeface="Georgia" pitchFamily="34" charset="-120"/>
              </a:rPr>
              <a:t>2</a:t>
            </a:r>
            <a:endParaRPr lang="en-US" sz="1600" dirty="0"/>
          </a:p>
        </p:txBody>
      </p:sp>
      <p:sp>
        <p:nvSpPr>
          <p:cNvPr id="12" name="Text 10"/>
          <p:cNvSpPr/>
          <p:nvPr/>
        </p:nvSpPr>
        <p:spPr>
          <a:xfrm>
            <a:off x="3429000" y="1920240"/>
            <a:ext cx="2404872" cy="365760"/>
          </a:xfrm>
          <a:prstGeom prst="rect">
            <a:avLst/>
          </a:prstGeom>
          <a:noFill/>
          <a:ln/>
        </p:spPr>
        <p:txBody>
          <a:bodyPr wrap="square" lIns="0" tIns="0" rIns="0" bIns="0" rtlCol="0" anchor="ctr"/>
          <a:lstStyle/>
          <a:p>
            <a:pPr indent="0" marL="0">
              <a:buNone/>
            </a:pPr>
            <a:r>
              <a:rPr lang="en-US" sz="1300" b="1" dirty="0">
                <a:solidFill>
                  <a:srgbClr val="0A2540"/>
                </a:solidFill>
                <a:latin typeface="Georgia" pitchFamily="34" charset="0"/>
                <a:ea typeface="Georgia" pitchFamily="34" charset="-122"/>
                <a:cs typeface="Georgia" pitchFamily="34" charset="-120"/>
              </a:rPr>
              <a:t>Triage becomes a function</a:t>
            </a:r>
            <a:endParaRPr lang="en-US" sz="1300" dirty="0"/>
          </a:p>
        </p:txBody>
      </p:sp>
      <p:sp>
        <p:nvSpPr>
          <p:cNvPr id="13" name="Text 11"/>
          <p:cNvSpPr/>
          <p:nvPr/>
        </p:nvSpPr>
        <p:spPr>
          <a:xfrm>
            <a:off x="3429000" y="2286000"/>
            <a:ext cx="2404872" cy="640080"/>
          </a:xfrm>
          <a:prstGeom prst="rect">
            <a:avLst/>
          </a:prstGeom>
          <a:noFill/>
          <a:ln/>
        </p:spPr>
        <p:txBody>
          <a:bodyPr wrap="square" lIns="0" tIns="0" rIns="0" bIns="0" rtlCol="0" anchor="ctr"/>
          <a:lstStyle/>
          <a:p>
            <a:pPr indent="0" marL="0">
              <a:buNone/>
            </a:pPr>
            <a:r>
              <a:rPr lang="en-US" sz="1000" dirty="0">
                <a:solidFill>
                  <a:srgbClr val="1A2332"/>
                </a:solidFill>
                <a:latin typeface="Calibri" pitchFamily="34" charset="0"/>
                <a:ea typeface="Calibri" pitchFamily="34" charset="-122"/>
                <a:cs typeface="Calibri" pitchFamily="34" charset="-120"/>
              </a:rPr>
              <a:t>Curatorial discipline is a hireable, staffable campaign capability.</a:t>
            </a:r>
            <a:endParaRPr lang="en-US" sz="1000" dirty="0"/>
          </a:p>
        </p:txBody>
      </p:sp>
      <p:sp>
        <p:nvSpPr>
          <p:cNvPr id="14" name="Shape 12"/>
          <p:cNvSpPr/>
          <p:nvPr/>
        </p:nvSpPr>
        <p:spPr>
          <a:xfrm>
            <a:off x="6035040" y="1600200"/>
            <a:ext cx="2679192" cy="1371600"/>
          </a:xfrm>
          <a:prstGeom prst="rect">
            <a:avLst/>
          </a:prstGeom>
          <a:solidFill>
            <a:srgbClr val="FFFFFF"/>
          </a:solidFill>
          <a:ln w="12700">
            <a:solidFill>
              <a:srgbClr val="FFFFFF"/>
            </a:solidFill>
            <a:prstDash val="solid"/>
          </a:ln>
        </p:spPr>
      </p:sp>
      <p:sp>
        <p:nvSpPr>
          <p:cNvPr id="15" name="Shape 13"/>
          <p:cNvSpPr/>
          <p:nvPr/>
        </p:nvSpPr>
        <p:spPr>
          <a:xfrm>
            <a:off x="6035040" y="1600200"/>
            <a:ext cx="73152" cy="1371600"/>
          </a:xfrm>
          <a:prstGeom prst="rect">
            <a:avLst/>
          </a:prstGeom>
          <a:solidFill>
            <a:srgbClr val="E07A5F"/>
          </a:solidFill>
          <a:ln w="12700">
            <a:solidFill>
              <a:srgbClr val="E07A5F"/>
            </a:solidFill>
            <a:prstDash val="solid"/>
          </a:ln>
        </p:spPr>
      </p:sp>
      <p:sp>
        <p:nvSpPr>
          <p:cNvPr id="16" name="Text 14"/>
          <p:cNvSpPr/>
          <p:nvPr/>
        </p:nvSpPr>
        <p:spPr>
          <a:xfrm>
            <a:off x="6217920" y="1691640"/>
            <a:ext cx="365760" cy="274320"/>
          </a:xfrm>
          <a:prstGeom prst="rect">
            <a:avLst/>
          </a:prstGeom>
          <a:noFill/>
          <a:ln/>
        </p:spPr>
        <p:txBody>
          <a:bodyPr wrap="square" lIns="0" tIns="0" rIns="0" bIns="0" rtlCol="0" anchor="ctr"/>
          <a:lstStyle/>
          <a:p>
            <a:pPr indent="0" marL="0">
              <a:buNone/>
            </a:pPr>
            <a:r>
              <a:rPr lang="en-US" sz="1600" b="1" dirty="0">
                <a:solidFill>
                  <a:srgbClr val="E07A5F"/>
                </a:solidFill>
                <a:latin typeface="Georgia" pitchFamily="34" charset="0"/>
                <a:ea typeface="Georgia" pitchFamily="34" charset="-122"/>
                <a:cs typeface="Georgia" pitchFamily="34" charset="-120"/>
              </a:rPr>
              <a:t>3</a:t>
            </a:r>
            <a:endParaRPr lang="en-US" sz="1600" dirty="0"/>
          </a:p>
        </p:txBody>
      </p:sp>
      <p:sp>
        <p:nvSpPr>
          <p:cNvPr id="17" name="Text 15"/>
          <p:cNvSpPr/>
          <p:nvPr/>
        </p:nvSpPr>
        <p:spPr>
          <a:xfrm>
            <a:off x="6217920" y="1920240"/>
            <a:ext cx="2404872" cy="365760"/>
          </a:xfrm>
          <a:prstGeom prst="rect">
            <a:avLst/>
          </a:prstGeom>
          <a:noFill/>
          <a:ln/>
        </p:spPr>
        <p:txBody>
          <a:bodyPr wrap="square" lIns="0" tIns="0" rIns="0" bIns="0" rtlCol="0" anchor="ctr"/>
          <a:lstStyle/>
          <a:p>
            <a:pPr indent="0" marL="0">
              <a:buNone/>
            </a:pPr>
            <a:r>
              <a:rPr lang="en-US" sz="1300" b="1" dirty="0">
                <a:solidFill>
                  <a:srgbClr val="0A2540"/>
                </a:solidFill>
                <a:latin typeface="Georgia" pitchFamily="34" charset="0"/>
                <a:ea typeface="Georgia" pitchFamily="34" charset="-122"/>
                <a:cs typeface="Georgia" pitchFamily="34" charset="-120"/>
              </a:rPr>
              <a:t>Amplification stack adapts</a:t>
            </a:r>
            <a:endParaRPr lang="en-US" sz="1300" dirty="0"/>
          </a:p>
        </p:txBody>
      </p:sp>
      <p:sp>
        <p:nvSpPr>
          <p:cNvPr id="18" name="Text 16"/>
          <p:cNvSpPr/>
          <p:nvPr/>
        </p:nvSpPr>
        <p:spPr>
          <a:xfrm>
            <a:off x="6217920" y="2286000"/>
            <a:ext cx="2404872" cy="640080"/>
          </a:xfrm>
          <a:prstGeom prst="rect">
            <a:avLst/>
          </a:prstGeom>
          <a:noFill/>
          <a:ln/>
        </p:spPr>
        <p:txBody>
          <a:bodyPr wrap="square" lIns="0" tIns="0" rIns="0" bIns="0" rtlCol="0" anchor="ctr"/>
          <a:lstStyle/>
          <a:p>
            <a:pPr indent="0" marL="0">
              <a:buNone/>
            </a:pPr>
            <a:r>
              <a:rPr lang="en-US" sz="1000" dirty="0">
                <a:solidFill>
                  <a:srgbClr val="1A2332"/>
                </a:solidFill>
                <a:latin typeface="Calibri" pitchFamily="34" charset="0"/>
                <a:ea typeface="Calibri" pitchFamily="34" charset="-122"/>
                <a:cs typeface="Calibri" pitchFamily="34" charset="-120"/>
              </a:rPr>
              <a:t>Press, elites, and platforms develop muscle memory for supporter content.</a:t>
            </a:r>
            <a:endParaRPr lang="en-US" sz="1000" dirty="0"/>
          </a:p>
        </p:txBody>
      </p:sp>
      <p:sp>
        <p:nvSpPr>
          <p:cNvPr id="19" name="Shape 17"/>
          <p:cNvSpPr/>
          <p:nvPr/>
        </p:nvSpPr>
        <p:spPr>
          <a:xfrm>
            <a:off x="457200" y="3081528"/>
            <a:ext cx="2679192" cy="1371600"/>
          </a:xfrm>
          <a:prstGeom prst="rect">
            <a:avLst/>
          </a:prstGeom>
          <a:solidFill>
            <a:srgbClr val="FFFFFF"/>
          </a:solidFill>
          <a:ln w="12700">
            <a:solidFill>
              <a:srgbClr val="FFFFFF"/>
            </a:solidFill>
            <a:prstDash val="solid"/>
          </a:ln>
        </p:spPr>
      </p:sp>
      <p:sp>
        <p:nvSpPr>
          <p:cNvPr id="20" name="Shape 18"/>
          <p:cNvSpPr/>
          <p:nvPr/>
        </p:nvSpPr>
        <p:spPr>
          <a:xfrm>
            <a:off x="457200" y="3081528"/>
            <a:ext cx="73152" cy="1371600"/>
          </a:xfrm>
          <a:prstGeom prst="rect">
            <a:avLst/>
          </a:prstGeom>
          <a:solidFill>
            <a:srgbClr val="E07A5F"/>
          </a:solidFill>
          <a:ln w="12700">
            <a:solidFill>
              <a:srgbClr val="E07A5F"/>
            </a:solidFill>
            <a:prstDash val="solid"/>
          </a:ln>
        </p:spPr>
      </p:sp>
      <p:sp>
        <p:nvSpPr>
          <p:cNvPr id="21" name="Text 19"/>
          <p:cNvSpPr/>
          <p:nvPr/>
        </p:nvSpPr>
        <p:spPr>
          <a:xfrm>
            <a:off x="640080" y="3172968"/>
            <a:ext cx="365760" cy="274320"/>
          </a:xfrm>
          <a:prstGeom prst="rect">
            <a:avLst/>
          </a:prstGeom>
          <a:noFill/>
          <a:ln/>
        </p:spPr>
        <p:txBody>
          <a:bodyPr wrap="square" lIns="0" tIns="0" rIns="0" bIns="0" rtlCol="0" anchor="ctr"/>
          <a:lstStyle/>
          <a:p>
            <a:pPr indent="0" marL="0">
              <a:buNone/>
            </a:pPr>
            <a:r>
              <a:rPr lang="en-US" sz="1600" b="1" dirty="0">
                <a:solidFill>
                  <a:srgbClr val="E07A5F"/>
                </a:solidFill>
                <a:latin typeface="Georgia" pitchFamily="34" charset="0"/>
                <a:ea typeface="Georgia" pitchFamily="34" charset="-122"/>
                <a:cs typeface="Georgia" pitchFamily="34" charset="-120"/>
              </a:rPr>
              <a:t>4</a:t>
            </a:r>
            <a:endParaRPr lang="en-US" sz="1600" dirty="0"/>
          </a:p>
        </p:txBody>
      </p:sp>
      <p:sp>
        <p:nvSpPr>
          <p:cNvPr id="22" name="Text 20"/>
          <p:cNvSpPr/>
          <p:nvPr/>
        </p:nvSpPr>
        <p:spPr>
          <a:xfrm>
            <a:off x="640080" y="3401568"/>
            <a:ext cx="2404872" cy="365760"/>
          </a:xfrm>
          <a:prstGeom prst="rect">
            <a:avLst/>
          </a:prstGeom>
          <a:noFill/>
          <a:ln/>
        </p:spPr>
        <p:txBody>
          <a:bodyPr wrap="square" lIns="0" tIns="0" rIns="0" bIns="0" rtlCol="0" anchor="ctr"/>
          <a:lstStyle/>
          <a:p>
            <a:pPr indent="0" marL="0">
              <a:buNone/>
            </a:pPr>
            <a:r>
              <a:rPr lang="en-US" sz="1300" b="1" dirty="0">
                <a:solidFill>
                  <a:srgbClr val="0A2540"/>
                </a:solidFill>
                <a:latin typeface="Georgia" pitchFamily="34" charset="0"/>
                <a:ea typeface="Georgia" pitchFamily="34" charset="-122"/>
                <a:cs typeface="Georgia" pitchFamily="34" charset="-120"/>
              </a:rPr>
              <a:t>Persuasion vs. consolidation</a:t>
            </a:r>
            <a:endParaRPr lang="en-US" sz="1300" dirty="0"/>
          </a:p>
        </p:txBody>
      </p:sp>
      <p:sp>
        <p:nvSpPr>
          <p:cNvPr id="23" name="Text 21"/>
          <p:cNvSpPr/>
          <p:nvPr/>
        </p:nvSpPr>
        <p:spPr>
          <a:xfrm>
            <a:off x="640080" y="3767328"/>
            <a:ext cx="2404872" cy="640080"/>
          </a:xfrm>
          <a:prstGeom prst="rect">
            <a:avLst/>
          </a:prstGeom>
          <a:noFill/>
          <a:ln/>
        </p:spPr>
        <p:txBody>
          <a:bodyPr wrap="square" lIns="0" tIns="0" rIns="0" bIns="0" rtlCol="0" anchor="ctr"/>
          <a:lstStyle/>
          <a:p>
            <a:pPr indent="0" marL="0">
              <a:buNone/>
            </a:pPr>
            <a:r>
              <a:rPr lang="en-US" sz="1000" dirty="0">
                <a:solidFill>
                  <a:srgbClr val="1A2332"/>
                </a:solidFill>
                <a:latin typeface="Calibri" pitchFamily="34" charset="0"/>
                <a:ea typeface="Calibri" pitchFamily="34" charset="-122"/>
                <a:cs typeface="Calibri" pitchFamily="34" charset="-120"/>
              </a:rPr>
              <a:t>Becomes the central empirical question for the field.</a:t>
            </a:r>
            <a:endParaRPr lang="en-US" sz="1000" dirty="0"/>
          </a:p>
        </p:txBody>
      </p:sp>
      <p:sp>
        <p:nvSpPr>
          <p:cNvPr id="24" name="Shape 22"/>
          <p:cNvSpPr/>
          <p:nvPr/>
        </p:nvSpPr>
        <p:spPr>
          <a:xfrm>
            <a:off x="3246120" y="3081528"/>
            <a:ext cx="2679192" cy="1371600"/>
          </a:xfrm>
          <a:prstGeom prst="rect">
            <a:avLst/>
          </a:prstGeom>
          <a:solidFill>
            <a:srgbClr val="FFFFFF"/>
          </a:solidFill>
          <a:ln w="12700">
            <a:solidFill>
              <a:srgbClr val="FFFFFF"/>
            </a:solidFill>
            <a:prstDash val="solid"/>
          </a:ln>
        </p:spPr>
      </p:sp>
      <p:sp>
        <p:nvSpPr>
          <p:cNvPr id="25" name="Shape 23"/>
          <p:cNvSpPr/>
          <p:nvPr/>
        </p:nvSpPr>
        <p:spPr>
          <a:xfrm>
            <a:off x="3246120" y="3081528"/>
            <a:ext cx="73152" cy="1371600"/>
          </a:xfrm>
          <a:prstGeom prst="rect">
            <a:avLst/>
          </a:prstGeom>
          <a:solidFill>
            <a:srgbClr val="E07A5F"/>
          </a:solidFill>
          <a:ln w="12700">
            <a:solidFill>
              <a:srgbClr val="E07A5F"/>
            </a:solidFill>
            <a:prstDash val="solid"/>
          </a:ln>
        </p:spPr>
      </p:sp>
      <p:sp>
        <p:nvSpPr>
          <p:cNvPr id="26" name="Text 24"/>
          <p:cNvSpPr/>
          <p:nvPr/>
        </p:nvSpPr>
        <p:spPr>
          <a:xfrm>
            <a:off x="3429000" y="3172968"/>
            <a:ext cx="365760" cy="274320"/>
          </a:xfrm>
          <a:prstGeom prst="rect">
            <a:avLst/>
          </a:prstGeom>
          <a:noFill/>
          <a:ln/>
        </p:spPr>
        <p:txBody>
          <a:bodyPr wrap="square" lIns="0" tIns="0" rIns="0" bIns="0" rtlCol="0" anchor="ctr"/>
          <a:lstStyle/>
          <a:p>
            <a:pPr indent="0" marL="0">
              <a:buNone/>
            </a:pPr>
            <a:r>
              <a:rPr lang="en-US" sz="1600" b="1" dirty="0">
                <a:solidFill>
                  <a:srgbClr val="E07A5F"/>
                </a:solidFill>
                <a:latin typeface="Georgia" pitchFamily="34" charset="0"/>
                <a:ea typeface="Georgia" pitchFamily="34" charset="-122"/>
                <a:cs typeface="Georgia" pitchFamily="34" charset="-120"/>
              </a:rPr>
              <a:t>5</a:t>
            </a:r>
            <a:endParaRPr lang="en-US" sz="1600" dirty="0"/>
          </a:p>
        </p:txBody>
      </p:sp>
      <p:sp>
        <p:nvSpPr>
          <p:cNvPr id="27" name="Text 25"/>
          <p:cNvSpPr/>
          <p:nvPr/>
        </p:nvSpPr>
        <p:spPr>
          <a:xfrm>
            <a:off x="3429000" y="3401568"/>
            <a:ext cx="2404872" cy="365760"/>
          </a:xfrm>
          <a:prstGeom prst="rect">
            <a:avLst/>
          </a:prstGeom>
          <a:noFill/>
          <a:ln/>
        </p:spPr>
        <p:txBody>
          <a:bodyPr wrap="square" lIns="0" tIns="0" rIns="0" bIns="0" rtlCol="0" anchor="ctr"/>
          <a:lstStyle/>
          <a:p>
            <a:pPr indent="0" marL="0">
              <a:buNone/>
            </a:pPr>
            <a:r>
              <a:rPr lang="en-US" sz="1300" b="1" dirty="0">
                <a:solidFill>
                  <a:srgbClr val="0A2540"/>
                </a:solidFill>
                <a:latin typeface="Georgia" pitchFamily="34" charset="0"/>
                <a:ea typeface="Georgia" pitchFamily="34" charset="-122"/>
                <a:cs typeface="Georgia" pitchFamily="34" charset="-120"/>
              </a:rPr>
              <a:t>Cultural-fit failures scale</a:t>
            </a:r>
            <a:endParaRPr lang="en-US" sz="1300" dirty="0"/>
          </a:p>
        </p:txBody>
      </p:sp>
      <p:sp>
        <p:nvSpPr>
          <p:cNvPr id="28" name="Text 26"/>
          <p:cNvSpPr/>
          <p:nvPr/>
        </p:nvSpPr>
        <p:spPr>
          <a:xfrm>
            <a:off x="3429000" y="3767328"/>
            <a:ext cx="2404872" cy="640080"/>
          </a:xfrm>
          <a:prstGeom prst="rect">
            <a:avLst/>
          </a:prstGeom>
          <a:noFill/>
          <a:ln/>
        </p:spPr>
        <p:txBody>
          <a:bodyPr wrap="square" lIns="0" tIns="0" rIns="0" bIns="0" rtlCol="0" anchor="ctr"/>
          <a:lstStyle/>
          <a:p>
            <a:pPr indent="0" marL="0">
              <a:buNone/>
            </a:pPr>
            <a:r>
              <a:rPr lang="en-US" sz="1000" dirty="0">
                <a:solidFill>
                  <a:srgbClr val="1A2332"/>
                </a:solidFill>
                <a:latin typeface="Calibri" pitchFamily="34" charset="0"/>
                <a:ea typeface="Calibri" pitchFamily="34" charset="-122"/>
                <a:cs typeface="Calibri" pitchFamily="34" charset="-120"/>
              </a:rPr>
              <a:t>More visible, more news-cycle damaging.</a:t>
            </a:r>
            <a:endParaRPr lang="en-US" sz="1000" dirty="0"/>
          </a:p>
        </p:txBody>
      </p:sp>
      <p:sp>
        <p:nvSpPr>
          <p:cNvPr id="29" name="Shape 27"/>
          <p:cNvSpPr/>
          <p:nvPr/>
        </p:nvSpPr>
        <p:spPr>
          <a:xfrm>
            <a:off x="6035040" y="3081528"/>
            <a:ext cx="2679192" cy="1371600"/>
          </a:xfrm>
          <a:prstGeom prst="rect">
            <a:avLst/>
          </a:prstGeom>
          <a:solidFill>
            <a:srgbClr val="FFFFFF"/>
          </a:solidFill>
          <a:ln w="12700">
            <a:solidFill>
              <a:srgbClr val="FFFFFF"/>
            </a:solidFill>
            <a:prstDash val="solid"/>
          </a:ln>
        </p:spPr>
      </p:sp>
      <p:sp>
        <p:nvSpPr>
          <p:cNvPr id="30" name="Shape 28"/>
          <p:cNvSpPr/>
          <p:nvPr/>
        </p:nvSpPr>
        <p:spPr>
          <a:xfrm>
            <a:off x="6035040" y="3081528"/>
            <a:ext cx="73152" cy="1371600"/>
          </a:xfrm>
          <a:prstGeom prst="rect">
            <a:avLst/>
          </a:prstGeom>
          <a:solidFill>
            <a:srgbClr val="E07A5F"/>
          </a:solidFill>
          <a:ln w="12700">
            <a:solidFill>
              <a:srgbClr val="E07A5F"/>
            </a:solidFill>
            <a:prstDash val="solid"/>
          </a:ln>
        </p:spPr>
      </p:sp>
      <p:sp>
        <p:nvSpPr>
          <p:cNvPr id="31" name="Text 29"/>
          <p:cNvSpPr/>
          <p:nvPr/>
        </p:nvSpPr>
        <p:spPr>
          <a:xfrm>
            <a:off x="6217920" y="3172968"/>
            <a:ext cx="365760" cy="274320"/>
          </a:xfrm>
          <a:prstGeom prst="rect">
            <a:avLst/>
          </a:prstGeom>
          <a:noFill/>
          <a:ln/>
        </p:spPr>
        <p:txBody>
          <a:bodyPr wrap="square" lIns="0" tIns="0" rIns="0" bIns="0" rtlCol="0" anchor="ctr"/>
          <a:lstStyle/>
          <a:p>
            <a:pPr indent="0" marL="0">
              <a:buNone/>
            </a:pPr>
            <a:r>
              <a:rPr lang="en-US" sz="1600" b="1" dirty="0">
                <a:solidFill>
                  <a:srgbClr val="E07A5F"/>
                </a:solidFill>
                <a:latin typeface="Georgia" pitchFamily="34" charset="0"/>
                <a:ea typeface="Georgia" pitchFamily="34" charset="-122"/>
                <a:cs typeface="Georgia" pitchFamily="34" charset="-120"/>
              </a:rPr>
              <a:t>6</a:t>
            </a:r>
            <a:endParaRPr lang="en-US" sz="1600" dirty="0"/>
          </a:p>
        </p:txBody>
      </p:sp>
      <p:sp>
        <p:nvSpPr>
          <p:cNvPr id="32" name="Text 30"/>
          <p:cNvSpPr/>
          <p:nvPr/>
        </p:nvSpPr>
        <p:spPr>
          <a:xfrm>
            <a:off x="6217920" y="3401568"/>
            <a:ext cx="2404872" cy="365760"/>
          </a:xfrm>
          <a:prstGeom prst="rect">
            <a:avLst/>
          </a:prstGeom>
          <a:noFill/>
          <a:ln/>
        </p:spPr>
        <p:txBody>
          <a:bodyPr wrap="square" lIns="0" tIns="0" rIns="0" bIns="0" rtlCol="0" anchor="ctr"/>
          <a:lstStyle/>
          <a:p>
            <a:pPr indent="0" marL="0">
              <a:buNone/>
            </a:pPr>
            <a:r>
              <a:rPr lang="en-US" sz="1300" b="1" dirty="0">
                <a:solidFill>
                  <a:srgbClr val="0A2540"/>
                </a:solidFill>
                <a:latin typeface="Georgia" pitchFamily="34" charset="0"/>
                <a:ea typeface="Georgia" pitchFamily="34" charset="-122"/>
                <a:cs typeface="Georgia" pitchFamily="34" charset="-120"/>
              </a:rPr>
              <a:t>Attribution requires response</a:t>
            </a:r>
            <a:endParaRPr lang="en-US" sz="1300" dirty="0"/>
          </a:p>
        </p:txBody>
      </p:sp>
      <p:sp>
        <p:nvSpPr>
          <p:cNvPr id="33" name="Text 31"/>
          <p:cNvSpPr/>
          <p:nvPr/>
        </p:nvSpPr>
        <p:spPr>
          <a:xfrm>
            <a:off x="6217920" y="3767328"/>
            <a:ext cx="2404872" cy="640080"/>
          </a:xfrm>
          <a:prstGeom prst="rect">
            <a:avLst/>
          </a:prstGeom>
          <a:noFill/>
          <a:ln/>
        </p:spPr>
        <p:txBody>
          <a:bodyPr wrap="square" lIns="0" tIns="0" rIns="0" bIns="0" rtlCol="0" anchor="ctr"/>
          <a:lstStyle/>
          <a:p>
            <a:pPr indent="0" marL="0">
              <a:buNone/>
            </a:pPr>
            <a:r>
              <a:rPr lang="en-US" sz="1000" dirty="0">
                <a:solidFill>
                  <a:srgbClr val="1A2332"/>
                </a:solidFill>
                <a:latin typeface="Calibri" pitchFamily="34" charset="0"/>
                <a:ea typeface="Calibri" pitchFamily="34" charset="-122"/>
                <a:cs typeface="Calibri" pitchFamily="34" charset="-120"/>
              </a:rPr>
              <a:t>From platforms, regulators, courts, and the press.</a:t>
            </a:r>
            <a:endParaRPr lang="en-US" sz="1000" dirty="0"/>
          </a:p>
        </p:txBody>
      </p:sp>
      <p:sp>
        <p:nvSpPr>
          <p:cNvPr id="34" name="Text 32"/>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35" name="Text 33"/>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12 / 13</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lIns="0" tIns="0" rIns="0" bIns="0" rtlCol="0" anchor="ctr"/>
          <a:lstStyle/>
          <a:p>
            <a:pPr indent="0" marL="0">
              <a:buNone/>
            </a:pPr>
            <a:r>
              <a:rPr lang="en-US" sz="3200" b="1" dirty="0">
                <a:solidFill>
                  <a:srgbClr val="0A2540"/>
                </a:solidFill>
                <a:latin typeface="Georgia" pitchFamily="34" charset="0"/>
                <a:ea typeface="Georgia" pitchFamily="34" charset="-122"/>
                <a:cs typeface="Georgia" pitchFamily="34" charset="-120"/>
              </a:rPr>
              <a:t>Three open questions</a:t>
            </a:r>
            <a:endParaRPr lang="en-US" sz="3200" dirty="0"/>
          </a:p>
        </p:txBody>
      </p:sp>
      <p:sp>
        <p:nvSpPr>
          <p:cNvPr id="3" name="Text 1"/>
          <p:cNvSpPr/>
          <p:nvPr/>
        </p:nvSpPr>
        <p:spPr>
          <a:xfrm>
            <a:off x="457200" y="1051560"/>
            <a:ext cx="8229600" cy="365760"/>
          </a:xfrm>
          <a:prstGeom prst="rect">
            <a:avLst/>
          </a:prstGeom>
          <a:noFill/>
          <a:ln/>
        </p:spPr>
        <p:txBody>
          <a:bodyPr wrap="square" lIns="0" tIns="0" rIns="0" bIns="0" rtlCol="0" anchor="ctr"/>
          <a:lstStyle/>
          <a:p>
            <a:pPr indent="0" marL="0">
              <a:buNone/>
            </a:pPr>
            <a:r>
              <a:rPr lang="en-US" sz="1400" i="1" dirty="0">
                <a:solidFill>
                  <a:srgbClr val="1C7293"/>
                </a:solidFill>
                <a:latin typeface="Georgia" pitchFamily="34" charset="0"/>
                <a:ea typeface="Georgia" pitchFamily="34" charset="-122"/>
                <a:cs typeface="Georgia" pitchFamily="34" charset="-120"/>
              </a:rPr>
              <a:t>for the 2026–2028 research agenda</a:t>
            </a:r>
            <a:endParaRPr lang="en-US" sz="1400" dirty="0"/>
          </a:p>
        </p:txBody>
      </p:sp>
      <p:sp>
        <p:nvSpPr>
          <p:cNvPr id="4" name="Shape 2"/>
          <p:cNvSpPr/>
          <p:nvPr/>
        </p:nvSpPr>
        <p:spPr>
          <a:xfrm>
            <a:off x="457200" y="1463040"/>
            <a:ext cx="1097280" cy="0"/>
          </a:xfrm>
          <a:prstGeom prst="line">
            <a:avLst/>
          </a:prstGeom>
          <a:noFill/>
          <a:ln w="25400">
            <a:solidFill>
              <a:srgbClr val="E07A5F"/>
            </a:solidFill>
            <a:prstDash val="solid"/>
          </a:ln>
        </p:spPr>
      </p:sp>
      <p:sp>
        <p:nvSpPr>
          <p:cNvPr id="5" name="Shape 3"/>
          <p:cNvSpPr/>
          <p:nvPr/>
        </p:nvSpPr>
        <p:spPr>
          <a:xfrm>
            <a:off x="457200" y="1737360"/>
            <a:ext cx="8229600" cy="822960"/>
          </a:xfrm>
          <a:prstGeom prst="rect">
            <a:avLst/>
          </a:prstGeom>
          <a:solidFill>
            <a:srgbClr val="E8F1F8"/>
          </a:solidFill>
          <a:ln w="6350">
            <a:solidFill>
              <a:srgbClr val="1C7293"/>
            </a:solidFill>
            <a:prstDash val="solid"/>
          </a:ln>
        </p:spPr>
      </p:sp>
      <p:sp>
        <p:nvSpPr>
          <p:cNvPr id="6" name="Text 4"/>
          <p:cNvSpPr/>
          <p:nvPr/>
        </p:nvSpPr>
        <p:spPr>
          <a:xfrm>
            <a:off x="640080" y="1828800"/>
            <a:ext cx="640080" cy="640080"/>
          </a:xfrm>
          <a:prstGeom prst="rect">
            <a:avLst/>
          </a:prstGeom>
          <a:noFill/>
          <a:ln/>
        </p:spPr>
        <p:txBody>
          <a:bodyPr wrap="square" lIns="0" tIns="0" rIns="0" bIns="0" rtlCol="0" anchor="ctr"/>
          <a:lstStyle/>
          <a:p>
            <a:pPr indent="0" marL="0">
              <a:buNone/>
            </a:pPr>
            <a:r>
              <a:rPr lang="en-US" sz="2200" b="1" dirty="0">
                <a:solidFill>
                  <a:srgbClr val="E07A5F"/>
                </a:solidFill>
                <a:latin typeface="Georgia" pitchFamily="34" charset="0"/>
                <a:ea typeface="Georgia" pitchFamily="34" charset="-122"/>
                <a:cs typeface="Georgia" pitchFamily="34" charset="-120"/>
              </a:rPr>
              <a:t>Q1</a:t>
            </a:r>
            <a:endParaRPr lang="en-US" sz="2200" dirty="0"/>
          </a:p>
        </p:txBody>
      </p:sp>
      <p:sp>
        <p:nvSpPr>
          <p:cNvPr id="7" name="Text 5"/>
          <p:cNvSpPr/>
          <p:nvPr/>
        </p:nvSpPr>
        <p:spPr>
          <a:xfrm>
            <a:off x="1371600" y="1828800"/>
            <a:ext cx="7132320" cy="320040"/>
          </a:xfrm>
          <a:prstGeom prst="rect">
            <a:avLst/>
          </a:prstGeom>
          <a:noFill/>
          <a:ln/>
        </p:spPr>
        <p:txBody>
          <a:bodyPr wrap="square" lIns="0" tIns="0" rIns="0" bIns="0" rtlCol="0" anchor="ctr"/>
          <a:lstStyle/>
          <a:p>
            <a:pPr indent="0" marL="0">
              <a:buNone/>
            </a:pPr>
            <a:r>
              <a:rPr lang="en-US" sz="1400" b="1" dirty="0">
                <a:solidFill>
                  <a:srgbClr val="0A2540"/>
                </a:solidFill>
                <a:latin typeface="Georgia" pitchFamily="34" charset="0"/>
                <a:ea typeface="Georgia" pitchFamily="34" charset="-122"/>
                <a:cs typeface="Georgia" pitchFamily="34" charset="-120"/>
              </a:rPr>
              <a:t>Persuasion or consolidation?</a:t>
            </a:r>
            <a:endParaRPr lang="en-US" sz="1400" dirty="0"/>
          </a:p>
        </p:txBody>
      </p:sp>
      <p:sp>
        <p:nvSpPr>
          <p:cNvPr id="8" name="Text 6"/>
          <p:cNvSpPr/>
          <p:nvPr/>
        </p:nvSpPr>
        <p:spPr>
          <a:xfrm>
            <a:off x="1371600" y="2148840"/>
            <a:ext cx="7132320" cy="41148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Does supporter-generated AI media move persuadable voters — or only consolidate the sympathies of existing supporters?</a:t>
            </a:r>
            <a:endParaRPr lang="en-US" sz="1100" dirty="0"/>
          </a:p>
        </p:txBody>
      </p:sp>
      <p:sp>
        <p:nvSpPr>
          <p:cNvPr id="9" name="Shape 7"/>
          <p:cNvSpPr/>
          <p:nvPr/>
        </p:nvSpPr>
        <p:spPr>
          <a:xfrm>
            <a:off x="457200" y="2697480"/>
            <a:ext cx="8229600" cy="822960"/>
          </a:xfrm>
          <a:prstGeom prst="rect">
            <a:avLst/>
          </a:prstGeom>
          <a:solidFill>
            <a:srgbClr val="E8F1F8"/>
          </a:solidFill>
          <a:ln w="6350">
            <a:solidFill>
              <a:srgbClr val="1C7293"/>
            </a:solidFill>
            <a:prstDash val="solid"/>
          </a:ln>
        </p:spPr>
      </p:sp>
      <p:sp>
        <p:nvSpPr>
          <p:cNvPr id="10" name="Text 8"/>
          <p:cNvSpPr/>
          <p:nvPr/>
        </p:nvSpPr>
        <p:spPr>
          <a:xfrm>
            <a:off x="640080" y="2788920"/>
            <a:ext cx="640080" cy="640080"/>
          </a:xfrm>
          <a:prstGeom prst="rect">
            <a:avLst/>
          </a:prstGeom>
          <a:noFill/>
          <a:ln/>
        </p:spPr>
        <p:txBody>
          <a:bodyPr wrap="square" lIns="0" tIns="0" rIns="0" bIns="0" rtlCol="0" anchor="ctr"/>
          <a:lstStyle/>
          <a:p>
            <a:pPr indent="0" marL="0">
              <a:buNone/>
            </a:pPr>
            <a:r>
              <a:rPr lang="en-US" sz="2200" b="1" dirty="0">
                <a:solidFill>
                  <a:srgbClr val="E07A5F"/>
                </a:solidFill>
                <a:latin typeface="Georgia" pitchFamily="34" charset="0"/>
                <a:ea typeface="Georgia" pitchFamily="34" charset="-122"/>
                <a:cs typeface="Georgia" pitchFamily="34" charset="-120"/>
              </a:rPr>
              <a:t>Q2</a:t>
            </a:r>
            <a:endParaRPr lang="en-US" sz="2200" dirty="0"/>
          </a:p>
        </p:txBody>
      </p:sp>
      <p:sp>
        <p:nvSpPr>
          <p:cNvPr id="11" name="Text 9"/>
          <p:cNvSpPr/>
          <p:nvPr/>
        </p:nvSpPr>
        <p:spPr>
          <a:xfrm>
            <a:off x="1371600" y="2788920"/>
            <a:ext cx="7132320" cy="320040"/>
          </a:xfrm>
          <a:prstGeom prst="rect">
            <a:avLst/>
          </a:prstGeom>
          <a:noFill/>
          <a:ln/>
        </p:spPr>
        <p:txBody>
          <a:bodyPr wrap="square" lIns="0" tIns="0" rIns="0" bIns="0" rtlCol="0" anchor="ctr"/>
          <a:lstStyle/>
          <a:p>
            <a:pPr indent="0" marL="0">
              <a:buNone/>
            </a:pPr>
            <a:r>
              <a:rPr lang="en-US" sz="1400" b="1" dirty="0">
                <a:solidFill>
                  <a:srgbClr val="0A2540"/>
                </a:solidFill>
                <a:latin typeface="Georgia" pitchFamily="34" charset="0"/>
                <a:ea typeface="Georgia" pitchFamily="34" charset="-122"/>
                <a:cs typeface="Georgia" pitchFamily="34" charset="-120"/>
              </a:rPr>
              <a:t>When does cultural fit succeed?</a:t>
            </a:r>
            <a:endParaRPr lang="en-US" sz="1400" dirty="0"/>
          </a:p>
        </p:txBody>
      </p:sp>
      <p:sp>
        <p:nvSpPr>
          <p:cNvPr id="12" name="Text 10"/>
          <p:cNvSpPr/>
          <p:nvPr/>
        </p:nvSpPr>
        <p:spPr>
          <a:xfrm>
            <a:off x="1371600" y="3108960"/>
            <a:ext cx="7132320" cy="41148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Under what conditions does supporter-generated AI content earn cultural resonance, and under what conditions does it fail (as Saca La Bassura did)?</a:t>
            </a:r>
            <a:endParaRPr lang="en-US" sz="1100" dirty="0"/>
          </a:p>
        </p:txBody>
      </p:sp>
      <p:sp>
        <p:nvSpPr>
          <p:cNvPr id="13" name="Shape 11"/>
          <p:cNvSpPr/>
          <p:nvPr/>
        </p:nvSpPr>
        <p:spPr>
          <a:xfrm>
            <a:off x="457200" y="3657600"/>
            <a:ext cx="8229600" cy="822960"/>
          </a:xfrm>
          <a:prstGeom prst="rect">
            <a:avLst/>
          </a:prstGeom>
          <a:solidFill>
            <a:srgbClr val="E8F1F8"/>
          </a:solidFill>
          <a:ln w="6350">
            <a:solidFill>
              <a:srgbClr val="1C7293"/>
            </a:solidFill>
            <a:prstDash val="solid"/>
          </a:ln>
        </p:spPr>
      </p:sp>
      <p:sp>
        <p:nvSpPr>
          <p:cNvPr id="14" name="Text 12"/>
          <p:cNvSpPr/>
          <p:nvPr/>
        </p:nvSpPr>
        <p:spPr>
          <a:xfrm>
            <a:off x="640080" y="3749040"/>
            <a:ext cx="640080" cy="640080"/>
          </a:xfrm>
          <a:prstGeom prst="rect">
            <a:avLst/>
          </a:prstGeom>
          <a:noFill/>
          <a:ln/>
        </p:spPr>
        <p:txBody>
          <a:bodyPr wrap="square" lIns="0" tIns="0" rIns="0" bIns="0" rtlCol="0" anchor="ctr"/>
          <a:lstStyle/>
          <a:p>
            <a:pPr indent="0" marL="0">
              <a:buNone/>
            </a:pPr>
            <a:r>
              <a:rPr lang="en-US" sz="2200" b="1" dirty="0">
                <a:solidFill>
                  <a:srgbClr val="E07A5F"/>
                </a:solidFill>
                <a:latin typeface="Georgia" pitchFamily="34" charset="0"/>
                <a:ea typeface="Georgia" pitchFamily="34" charset="-122"/>
                <a:cs typeface="Georgia" pitchFamily="34" charset="-120"/>
              </a:rPr>
              <a:t>Q3</a:t>
            </a:r>
            <a:endParaRPr lang="en-US" sz="2200" dirty="0"/>
          </a:p>
        </p:txBody>
      </p:sp>
      <p:sp>
        <p:nvSpPr>
          <p:cNvPr id="15" name="Text 13"/>
          <p:cNvSpPr/>
          <p:nvPr/>
        </p:nvSpPr>
        <p:spPr>
          <a:xfrm>
            <a:off x="1371600" y="3749040"/>
            <a:ext cx="7132320" cy="320040"/>
          </a:xfrm>
          <a:prstGeom prst="rect">
            <a:avLst/>
          </a:prstGeom>
          <a:noFill/>
          <a:ln/>
        </p:spPr>
        <p:txBody>
          <a:bodyPr wrap="square" lIns="0" tIns="0" rIns="0" bIns="0" rtlCol="0" anchor="ctr"/>
          <a:lstStyle/>
          <a:p>
            <a:pPr indent="0" marL="0">
              <a:buNone/>
            </a:pPr>
            <a:r>
              <a:rPr lang="en-US" sz="1400" b="1" dirty="0">
                <a:solidFill>
                  <a:srgbClr val="0A2540"/>
                </a:solidFill>
                <a:latin typeface="Georgia" pitchFamily="34" charset="0"/>
                <a:ea typeface="Georgia" pitchFamily="34" charset="-122"/>
                <a:cs typeface="Georgia" pitchFamily="34" charset="-120"/>
              </a:rPr>
              <a:t>How do we operationalize amplification-as-authorship?</a:t>
            </a:r>
            <a:endParaRPr lang="en-US" sz="1400" dirty="0"/>
          </a:p>
        </p:txBody>
      </p:sp>
      <p:sp>
        <p:nvSpPr>
          <p:cNvPr id="16" name="Text 14"/>
          <p:cNvSpPr/>
          <p:nvPr/>
        </p:nvSpPr>
        <p:spPr>
          <a:xfrm>
            <a:off x="1371600" y="4069080"/>
            <a:ext cx="7132320" cy="411480"/>
          </a:xfrm>
          <a:prstGeom prst="rect">
            <a:avLst/>
          </a:prstGeom>
          <a:noFill/>
          <a:ln/>
        </p:spPr>
        <p:txBody>
          <a:bodyPr wrap="square" lIns="0" tIns="0" rIns="0" bIns="0" rtlCol="0" anchor="ctr"/>
          <a:lstStyle/>
          <a:p>
            <a:pPr indent="0" marL="0">
              <a:buNone/>
            </a:pPr>
            <a:r>
              <a:rPr lang="en-US" sz="1100" dirty="0">
                <a:solidFill>
                  <a:srgbClr val="1A2332"/>
                </a:solidFill>
                <a:latin typeface="Calibri" pitchFamily="34" charset="0"/>
                <a:ea typeface="Calibri" pitchFamily="34" charset="-122"/>
                <a:cs typeface="Calibri" pitchFamily="34" charset="-120"/>
              </a:rPr>
              <a:t>In a campaign environment in which the most reach-effective content is attributable-but-deniable, what conceptual and methodological tools should the field develop?</a:t>
            </a:r>
            <a:endParaRPr lang="en-US" sz="1100" dirty="0"/>
          </a:p>
        </p:txBody>
      </p:sp>
      <p:sp>
        <p:nvSpPr>
          <p:cNvPr id="17" name="Text 15"/>
          <p:cNvSpPr/>
          <p:nvPr/>
        </p:nvSpPr>
        <p:spPr>
          <a:xfrm>
            <a:off x="457200" y="4709160"/>
            <a:ext cx="8229600" cy="320040"/>
          </a:xfrm>
          <a:prstGeom prst="rect">
            <a:avLst/>
          </a:prstGeom>
          <a:noFill/>
          <a:ln/>
        </p:spPr>
        <p:txBody>
          <a:bodyPr wrap="square" lIns="0" tIns="0" rIns="0" bIns="0" rtlCol="0" anchor="ctr"/>
          <a:lstStyle/>
          <a:p>
            <a:pPr algn="ctr" indent="0" marL="0">
              <a:buNone/>
            </a:pPr>
            <a:r>
              <a:rPr lang="en-US" sz="1100" i="1" dirty="0">
                <a:solidFill>
                  <a:srgbClr val="5C7080"/>
                </a:solidFill>
                <a:latin typeface="Calibri" pitchFamily="34" charset="0"/>
                <a:ea typeface="Calibri" pitchFamily="34" charset="-122"/>
                <a:cs typeface="Calibri" pitchFamily="34" charset="-120"/>
              </a:rPr>
              <a:t>Thank you · Lance Rossi · NCA Political Communication Division 2026</a:t>
            </a:r>
            <a:endParaRPr lang="en-US" sz="1100" dirty="0"/>
          </a:p>
        </p:txBody>
      </p:sp>
      <p:sp>
        <p:nvSpPr>
          <p:cNvPr id="18" name="Text 16"/>
          <p:cNvSpPr/>
          <p:nvPr/>
        </p:nvSpPr>
        <p:spPr>
          <a:xfrm>
            <a:off x="365760" y="4800600"/>
            <a:ext cx="5486400" cy="274320"/>
          </a:xfrm>
          <a:prstGeom prst="rect">
            <a:avLst/>
          </a:prstGeom>
          <a:noFill/>
          <a:ln/>
        </p:spPr>
        <p:txBody>
          <a:bodyPr wrap="square" lIns="0" tIns="0" rIns="0" bIns="0" rtlCol="0" anchor="ctr"/>
          <a:lstStyle/>
          <a:p>
            <a:pPr indent="0" marL="0">
              <a:buNone/>
            </a:pPr>
            <a:r>
              <a:rPr lang="en-US" sz="900" dirty="0">
                <a:solidFill>
                  <a:srgbClr val="5C7080"/>
                </a:solidFill>
                <a:latin typeface="Calibri" pitchFamily="34" charset="0"/>
                <a:ea typeface="Calibri" pitchFamily="34" charset="-122"/>
                <a:cs typeface="Calibri" pitchFamily="34" charset="-120"/>
              </a:rPr>
              <a:t>Supporter as Studio · NCA 2026</a:t>
            </a:r>
            <a:endParaRPr lang="en-US" sz="900" dirty="0"/>
          </a:p>
        </p:txBody>
      </p:sp>
      <p:sp>
        <p:nvSpPr>
          <p:cNvPr id="19" name="Text 17"/>
          <p:cNvSpPr/>
          <p:nvPr/>
        </p:nvSpPr>
        <p:spPr>
          <a:xfrm>
            <a:off x="8229600" y="4800600"/>
            <a:ext cx="548640" cy="274320"/>
          </a:xfrm>
          <a:prstGeom prst="rect">
            <a:avLst/>
          </a:prstGeom>
          <a:noFill/>
          <a:ln/>
        </p:spPr>
        <p:txBody>
          <a:bodyPr wrap="square" lIns="0" tIns="0" rIns="0" bIns="0" rtlCol="0" anchor="ctr"/>
          <a:lstStyle/>
          <a:p>
            <a:pPr algn="r" indent="0" marL="0">
              <a:buNone/>
            </a:pPr>
            <a:r>
              <a:rPr lang="en-US" sz="900" dirty="0">
                <a:solidFill>
                  <a:srgbClr val="5C7080"/>
                </a:solidFill>
                <a:latin typeface="Calibri" pitchFamily="34" charset="0"/>
                <a:ea typeface="Calibri" pitchFamily="34" charset="-122"/>
                <a:cs typeface="Calibri" pitchFamily="34" charset="-120"/>
              </a:rPr>
              <a:t>13 / 13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Supporter as Studio</dc:title>
  <dc:subject>NCA 2026 Political Communication Division</dc:subject>
  <dc:creator>Lance Rossi</dc:creator>
  <cp:lastModifiedBy>Lance Rossi</cp:lastModifiedBy>
  <cp:revision>1</cp:revision>
  <dcterms:created xsi:type="dcterms:W3CDTF">2026-05-22T01:58:20Z</dcterms:created>
  <dcterms:modified xsi:type="dcterms:W3CDTF">2026-05-22T01:58:20Z</dcterms:modified>
</cp:coreProperties>
</file>